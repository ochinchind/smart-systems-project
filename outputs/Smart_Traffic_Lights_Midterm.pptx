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roblem and why it is a smart system" id="{81fc028a-2952-411a-fcdd-33439c63caba}">
          <p14:sldIdLst>
            <p14:sldId id="256"/>
            <p14:sldId id="257"/>
            <p14:sldId id="258"/>
          </p14:sldIdLst>
        </p14:section>
        <p14:section name="What we ask and how we review" id="{054ba9ec-4ed6-dba5-cbe4-180f8f4ad53b}">
          <p14:sldIdLst>
            <p14:sldId id="259"/>
            <p14:sldId id="260"/>
            <p14:sldId id="261"/>
          </p14:sldIdLst>
        </p14:section>
        <p14:section name="Our contribution and early evidence" id="{67a44361-e153-7939-cef4-506ea4c369d4}">
          <p14:sldIdLst>
            <p14:sldId id="262"/>
            <p14:sldId id="263"/>
          </p14:sldIdLst>
        </p14:section>
        <p14:section name="Early evidence and how complete the project is" id="{ae855a14-3779-91d2-d090-5b4caa31abbb}">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Rakhimzhanov Amangeldy and Nurkin Aidar. Our project is called Smart Traffic Lights That Learn. It is a systematic literature review of reinforcement learning for traffic signal control, and the subtitle says what we care about most: the road from simulation to real streets. In a systematic review we do not run our own experiments. Instead, we collect, filter and analyse published research using a strict and reproducible method. In the next ten minutes we will explain the problem, our research questions, how we search and screen the literature, the main idea of our review, what we have already built, and finally why we consider the project to be about fifty percent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start with the problem. Most traffic lights in our cities still work on fixed timers. The green and red phases last the same time at three in the morning, when the road is empty, and at six in the evening, when it is jammed. Some lights react to a detector, but they still follow rules written by hand. A learning traffic light is different. It watches real traffic through cameras and road sensors and changes its timing on the fly, based on what it has learned works best. Research on this idea is booming, and hundreds of papers report shorter waiting times and shorter queues. But when we look closer, almost all of these results come from computer simulations. Peer-reviewed tests on real intersections are still very rare. Our review asks a simple question: why does this gap exist, and what would it take to close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a smart system? Because a learning traffic light closes the full smart-system loop, shown here in four steps. First, it senses: cameras and road sensors measure how many cars are waiting. Second, it decides: a reinforcement learning agent, usually a neural network, chooses which direction gets the next green phase. Third, it acts: the signal switches on the road. Fourth, it learns: after each decision it receives a reward, which is higher when people wait less, and step by step it improves its policy. This is reinforcement learning, learning by trial and error instead of following a hand-made timing plan. And this is exactly where the difficulty comes from. Trial and error is cheap and safe inside a simulator, where a bad decision costs nothing. At a real intersection, a bad decision means real people stuck in traffic, and possibly safety risks. That explains much of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proposal asked four questions. During planning we refined them into six, because a good systematic review only asks questions that can be answered from published papers. The table shows each question and the information we will extract to answer it. RQ1 looks at the landscape: how fast the field is growing, in which venues and in which countries. RQ2 looks at the methods: which algorithms are used, and how the state, action and reward are designed. RQ3 asks how the methods are validated: only in simulators, or also on real roads. RQ4 asks how much they actually improve waiting time, queues and travel time compared with baselines such as fixed-time plans. RQ5 collects the barriers that stop deployment, together with the fixes researchers propose. And RQ6 turns everything into gaps and future research directions. RQ3 and RQ4 are the heart of our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these questions we follow PRISMA 2020, the international reporting standard for systematic reviews. It has six stages. First, plan: our protocol fixes the questions, the inclusion and exclusion criteria and the analysis before we search, so we cannot change the rules after seeing the results. Second, search: we search Scopus, Web of Science and IEEE Xplore for papers from 2019 to 2026. Third, screen: the two of us screen every record independently, first by title and abstract, then by full text, and we measure our agreement with Cohen's kappa. Every excluded paper gets one coded reason. Fourth, assess quality: each included study is scored on five criteria, zero to two points each, so ten points maximum. Fifth, extract: all data goes into one codebook, and every number is traced to its page or table. Sixth, synthesise the evidence and draw the PRISMA flow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search works. We split the topic into two concepts and combine them with AND. Concept A is the method: reinforcement learning, together with its common names, such as Q-learning, deep Q-network, actor-critic, policy gradient and PPO. Concept B is the application: traffic signals, together with traffic lights, signalized intersections, signal timing and signal phases. A paper must match both concepts to be found. We wrote the exact search string separately for each database, because Scopus, Web of Science and IEEE Xplore use different syntax. We limit the search to 2019 to 2026, to journal and conference papers, and to English. Before we lock the search, we run a pilot. We prepared a list of 20 papers we already know are relevant. The pilot must find most of them. If it misses some, we add the missing terms and document the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main contribution of our review. Earlier reviews mostly ask which algorithm performs best. We also ask how realistically each method was tested. For this we defined a validation realism scale with six levels. Level zero is a purely synthetic simulation, an artificial grid with invented traffic. Level one uses a real road map but made-up traffic. Level two is a simulation driven by real traffic data. Level three puts real hardware, such as a real signal controller, in the loop, but the lights on the street are not controlled. Level four is a field test, where the agent actually switches the lights at a real intersection for a limited time. Level five is a sustained deployment in a city. Every study gets the highest level it reaches. Then we can compare the reported improvements level by level and see whether the gains shrink as the tests become more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designing the formal search, we ran a short scoping search to understand the field. These are design inputs, not results of our review, and they are not counted in the PRISMA numbers. Four observations stood out. First, simulators dominate: recent reviews name SUMO and CityFlow as the main test platforms. Second, field tests are rare: papers from 2021 and 2022 that focus on deployment report that RL signal controllers have almost never run on live streets. Third, the last systematic review on this topic, by Noaeen and colleagues, covered 160 papers but only up to March 2020, so recent years have not been systematically reviewed. Fourth, many papers reuse the same few city datasets, such as Jinan, Hangzhou and New York. So we must be careful not to count the same evidence twice, and our method handles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first real evidence we collected from published papers during the scoping search. These numbers are reported by the authors themselves, in abstracts and benchmark tables. We have not yet checked them in the full texts, and they are not the results of our systematic review. Still, a pattern is visible. Against a fixed-time plan in simulation, a well-known method called CoLight cuts average travel time by about sixty percent, for example from 718 to 302 seconds on Hangzhou data. But when another paper re-runs the same method on the same data, it reports 348 seconds, fifteen percent worse, which shows a reproducibility problem. When the comparison is the real adaptive system already used at two Queensland intersections, the delay reduction falls to about a third, and that is still in simulation. Real adaptive signal pilots in Hangzhou and Nanchang, which are not RL, report around fifteen percent less delay on real streets. And we found no verified RL field test. So the tougher and more realistic the comparison, the smaller the gain. RQ4 will test this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question we were asked: how complete is the project, and why do we say fifty percent? We divided the whole project into six phases and gave each a weight based on the effort it needs, adding up to one hundred points. We only count work that is actually finished. Phase one, planning and the protocol, is complete: 20 out of 20. Phase two, the search strategy: the concepts, databases and search strings are done; only the pilot run and the formal lock are left, so 13 out of 15. Phase three, the review tools for screening, quality scoring, extraction and synthesis, is built and tested: 15 out of 15. Phase four, running the searches and screening, is next, so zero. Phase five, quality assessment and extraction, has not started: zero. Phase six, synthesis and writing, has a draft taxonomy and the first evidence sample you just saw, worth 2 out of 15. Behind this sit fifteen planning documents, search strings for three databases, a 64-field codebook and a tested toolkit that computes every PRISMA number from the records. Together that is 50 out of 100. Put simply, the design half of the review is complete: we know exactly what to search, how to judge each paper and how to analyse the results. The execution half starts now, with the pilot search and the locked protocol as our next milestone. Thank you for your attention. We are happy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1905000"/>
            <a:ext cx="10566400" cy="1905000"/>
          </a:xfrm>
          <a:prstGeom prst="rect">
            <a:avLst/>
          </a:prstGeom>
          <a:noFill/>
          <a:ln/>
        </p:spPr>
        <p:txBody>
          <a:bodyPr wrap="square" rtlCol="0"/>
          <a:lstStyle>
            <a:lvl1pPr algn="l" indent="0" marL="0">
              <a:lnSpc>
                <a:spcPct val="95000"/>
              </a:lnSpc>
              <a:buNone/>
              <a:defRPr lang="en-US" sz="6000" dirty="0">
                <a:solidFill>
                  <a:schemeClr val="tx1"/>
                </a:solidFill>
                <a:latin typeface="Cambria" pitchFamily="34" charset="0"/>
                <a:ea typeface="Cambria" pitchFamily="34" charset="-122"/>
                <a:cs typeface="Cambria" pitchFamily="34" charset="-120"/>
              </a:defRPr>
            </a:lvl1pPr>
          </a:lstStyle>
          <a:p>
            <a:pPr algn="l" indent="0" marL="0">
              <a:lnSpc>
                <a:spcPct val="95000"/>
              </a:lnSpc>
              <a:buNone/>
            </a:pPr>
            <a:r>
              <a:rPr lang="en-US" sz="6000" dirty="0">
                <a:solidFill>
                  <a:schemeClr val="tx1"/>
                </a:solidFill>
                <a:latin typeface="Cambria" pitchFamily="34" charset="0"/>
                <a:ea typeface="Cambria" pitchFamily="34" charset="-122"/>
                <a:cs typeface="Cambria" pitchFamily="34" charset="-120"/>
              </a:rPr>
              <a:t>Title</a:t>
            </a:r>
            <a:endParaRPr lang="en-US" sz="6000" dirty="0"/>
          </a:p>
        </p:txBody>
      </p:sp>
      <p:sp>
        <p:nvSpPr>
          <p:cNvPr id="3" name="Text 0"/>
          <p:cNvSpPr/>
          <p:nvPr>
            <p:ph idx="101" type="body" hasCustomPrompt="1"/>
          </p:nvPr>
        </p:nvSpPr>
        <p:spPr>
          <a:xfrm>
            <a:off x="812800" y="4064000"/>
            <a:ext cx="8890000" cy="825500"/>
          </a:xfrm>
          <a:prstGeom prst="rect">
            <a:avLst/>
          </a:prstGeom>
          <a:noFill/>
          <a:ln/>
        </p:spPr>
        <p:txBody>
          <a:bodyPr wrap="square" rtlCol="0"/>
          <a:lstStyle>
            <a:lvl1pPr algn="l" indent="0" marL="0">
              <a:buNone/>
              <a:defRPr lang="en-US" sz="2000" dirty="0">
                <a:solidFill>
                  <a:schemeClr val="tx2"/>
                </a:solidFill>
                <a:latin typeface="Calibri" pitchFamily="34" charset="0"/>
                <a:ea typeface="Calibri" pitchFamily="34" charset="-122"/>
                <a:cs typeface="Calibri" pitchFamily="34" charset="-120"/>
              </a:defRPr>
            </a:lvl1pPr>
          </a:lstStyle>
          <a:p>
            <a:pPr algn="l" indent="0" marL="0">
              <a:buNone/>
            </a:pPr>
            <a:r>
              <a:rPr lang="en-US" sz="2000" dirty="0">
                <a:solidFill>
                  <a:schemeClr val="tx2"/>
                </a:solidFill>
                <a:latin typeface="Calibri" pitchFamily="34" charset="0"/>
                <a:ea typeface="Calibri" pitchFamily="34" charset="-122"/>
                <a:cs typeface="Calibri" pitchFamily="34" charset="-120"/>
              </a:rPr>
              <a:t>Subtitle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12800" y="698500"/>
            <a:ext cx="10566400" cy="698500"/>
          </a:xfrm>
          <a:prstGeom prst="rect">
            <a:avLst/>
          </a:prstGeom>
          <a:noFill/>
          <a:ln/>
        </p:spPr>
        <p:txBody>
          <a:bodyPr wrap="square" rtlCol="0"/>
          <a:lstStyle>
            <a:lvl1pPr algn="l" indent="0" marL="0">
              <a:buNone/>
              <a:defRPr lang="en-US" sz="3600" dirty="0">
                <a:solidFill>
                  <a:schemeClr val="tx1"/>
                </a:solidFill>
                <a:latin typeface="Cambria" pitchFamily="34" charset="0"/>
                <a:ea typeface="Cambria" pitchFamily="34" charset="-122"/>
                <a:cs typeface="Cambria" pitchFamily="34" charset="-120"/>
              </a:defRPr>
            </a:lvl1pPr>
          </a:lstStyle>
          <a:p>
            <a:pPr algn="l" indent="0" marL="0">
              <a:buNone/>
            </a:pPr>
            <a:r>
              <a:rPr lang="en-US" sz="3600" dirty="0">
                <a:solidFill>
                  <a:schemeClr val="tx1"/>
                </a:solidFill>
                <a:latin typeface="Cambria" pitchFamily="34" charset="0"/>
                <a:ea typeface="Cambria" pitchFamily="34" charset="-122"/>
                <a:cs typeface="Cambria" pitchFamily="34" charset="-120"/>
              </a:rPr>
              <a:t>Title</a:t>
            </a:r>
            <a:endParaRPr lang="en-US" sz="3600" dirty="0"/>
          </a:p>
        </p:txBody>
      </p:sp>
      <p:sp>
        <p:nvSpPr>
          <p:cNvPr id="25" name="Slide Number Placeholder 0"/>
          <p:cNvSpPr>
            <a:spLocks noGrp="1"/>
          </p:cNvSpPr>
          <p:nvPr>
            <p:ph type="sldNum" sz="quarter" idx="4294967295"/>
          </p:nvPr>
        </p:nvSpPr>
        <p:spPr>
          <a:xfrm>
            <a:off x="10744200" y="6286500"/>
            <a:ext cx="635000" cy="254000"/>
          </a:xfrm>
          <a:prstGeom prst="rect">
            <a:avLst/>
          </a:prstGeom>
          <a:extLst>
            <a:ext uri="{C572A759-6A51-4108-AA02-DFA0A04FC94B}">
              <ma14:wrappingTextBoxFlag xmlns:ma14="http://schemas.microsoft.com/office/mac/drawingml/2011/main" val="0"/>
            </a:ext>
          </a:extLst>
        </p:spPr>
        <p:txBody>
          <a:bodyPr/>
          <a:lstStyle>
            <a:lvl1pPr>
              <a:defRPr sz="1100">
                <a:solidFill>
                  <a:srgbClr val="6B6A64"/>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44200" y="6286500"/>
            <a:ext cx="635000" cy="254000"/>
          </a:xfrm>
          <a:prstGeom prst="rect">
            <a:avLst/>
          </a:prstGeom>
          <a:extLst>
            <a:ext uri="{C572A759-6A51-4108-AA02-DFA0A04FC94B}">
              <ma14:wrappingTextBoxFlag xmlns:ma14="http://schemas.microsoft.com/office/mac/drawingml/2011/main" val="0"/>
            </a:ext>
          </a:extLst>
        </p:spPr>
        <p:txBody>
          <a:bodyPr/>
          <a:lstStyle>
            <a:lvl1pPr>
              <a:defRPr sz="1100">
                <a:solidFill>
                  <a:srgbClr val="6B6A64"/>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12800" y="1905000"/>
            <a:ext cx="10566400" cy="1905000"/>
          </a:xfrm>
          <a:prstGeom prst="rect">
            <a:avLst/>
          </a:prstGeom>
          <a:noFill/>
          <a:ln/>
        </p:spPr>
        <p:txBody>
          <a:bodyPr wrap="square" lIns="0" tIns="0" rIns="0" bIns="0" rtlCol="0" anchor="b"/>
          <a:lstStyle/>
          <a:p>
            <a:pPr algn="l" indent="0" marL="0">
              <a:lnSpc>
                <a:spcPct val="95000"/>
              </a:lnSpc>
              <a:buNone/>
            </a:pPr>
            <a:r>
              <a:rPr lang="en-US" sz="6000" dirty="0">
                <a:solidFill>
                  <a:schemeClr val="tx1"/>
                </a:solidFill>
                <a:latin typeface="Cambria" pitchFamily="34" charset="0"/>
                <a:ea typeface="Cambria" pitchFamily="34" charset="-122"/>
                <a:cs typeface="Cambria" pitchFamily="34" charset="-120"/>
              </a:rPr>
              <a:t>Smart traffic lights</a:t>
            </a:r>
            <a:endParaRPr lang="en-US" sz="6000" dirty="0"/>
          </a:p>
          <a:p>
            <a:pPr algn="l" indent="0" marL="0">
              <a:lnSpc>
                <a:spcPct val="95000"/>
              </a:lnSpc>
              <a:buNone/>
            </a:pPr>
            <a:r>
              <a:rPr lang="en-US" sz="6000" dirty="0">
                <a:solidFill>
                  <a:schemeClr val="tx1"/>
                </a:solidFill>
                <a:latin typeface="Cambria" pitchFamily="34" charset="0"/>
                <a:ea typeface="Cambria" pitchFamily="34" charset="-122"/>
                <a:cs typeface="Cambria" pitchFamily="34" charset="-120"/>
              </a:rPr>
              <a:t>that learn</a:t>
            </a:r>
            <a:endParaRPr lang="en-US" sz="6000" dirty="0"/>
          </a:p>
        </p:txBody>
      </p:sp>
      <p:sp>
        <p:nvSpPr>
          <p:cNvPr id="3" name="Text 0"/>
          <p:cNvSpPr/>
          <p:nvPr>
            <p:ph idx="101" type="body" hasCustomPrompt="1"/>
          </p:nvPr>
        </p:nvSpPr>
        <p:spPr>
          <a:xfrm>
            <a:off x="812800" y="4064000"/>
            <a:ext cx="8890000" cy="825500"/>
          </a:xfrm>
          <a:prstGeom prst="rect">
            <a:avLst/>
          </a:prstGeom>
          <a:noFill/>
          <a:ln/>
        </p:spPr>
        <p:txBody>
          <a:bodyPr wrap="square" lIns="0" tIns="0" rIns="0" bIns="0" rtlCol="0" anchor="t"/>
          <a:lstStyle/>
          <a:p>
            <a:pPr algn="l" indent="0" marL="0">
              <a:buNone/>
            </a:pPr>
            <a:r>
              <a:rPr lang="en-US" sz="2000" dirty="0">
                <a:solidFill>
                  <a:schemeClr val="tx2"/>
                </a:solidFill>
                <a:latin typeface="Calibri" pitchFamily="34" charset="0"/>
                <a:ea typeface="Calibri" pitchFamily="34" charset="-122"/>
                <a:cs typeface="Calibri" pitchFamily="34" charset="-120"/>
              </a:rPr>
              <a:t>A systematic literature review of reinforcement learning for traffic signal control: from simulation to real streets</a:t>
            </a:r>
            <a:endParaRPr lang="en-US" sz="2000" dirty="0"/>
          </a:p>
        </p:txBody>
      </p:sp>
      <p:sp>
        <p:nvSpPr>
          <p:cNvPr id="4" name="Authors"/>
          <p:cNvSpPr txBox="1"/>
          <p:nvPr/>
        </p:nvSpPr>
        <p:spPr>
          <a:xfrm>
            <a:off x="812800" y="6032500"/>
            <a:ext cx="10566400" cy="2540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Rakhimzhanov Amangeldy  ·  Nurkin Aidar  ·  </a:t>
            </a:r>
            <a:pPr indent="0" marL="0">
              <a:buNone/>
            </a:pPr>
            <a:r>
              <a:rPr lang="en-US" sz="1400" dirty="0">
                <a:solidFill>
                  <a:schemeClr val="accent1"/>
                </a:solidFill>
                <a:latin typeface="Calibri" pitchFamily="34" charset="0"/>
                <a:ea typeface="Calibri" pitchFamily="34" charset="-122"/>
                <a:cs typeface="Calibri" pitchFamily="34" charset="-120"/>
              </a:rPr>
              <a:t>Midterm progress report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812800" y="698500"/>
            <a:ext cx="10566400" cy="698500"/>
          </a:xfrm>
          <a:prstGeom prst="rect">
            <a:avLst/>
          </a:prstGeom>
          <a:noFill/>
          <a:ln/>
        </p:spPr>
        <p:txBody>
          <a:bodyPr wrap="square" lIns="0" tIns="0" rIns="0" bIns="0" rtlCol="0" anchor="ctr"/>
          <a:lstStyle/>
          <a:p>
            <a:pPr algn="l" indent="0" marL="0">
              <a:buNone/>
            </a:pPr>
            <a:r>
              <a:rPr lang="en-US" sz="3600" dirty="0">
                <a:solidFill>
                  <a:schemeClr val="tx1"/>
                </a:solidFill>
                <a:latin typeface="Cambria" pitchFamily="34" charset="0"/>
                <a:ea typeface="Cambria" pitchFamily="34" charset="-122"/>
                <a:cs typeface="Cambria" pitchFamily="34" charset="-120"/>
              </a:rPr>
              <a:t>Why traffic lights should learn</a:t>
            </a:r>
            <a:endParaRPr lang="en-US" sz="3600" dirty="0"/>
          </a:p>
        </p:txBody>
      </p:sp>
      <p:sp>
        <p:nvSpPr>
          <p:cNvPr id="4" name="Fixed-time light rule"/>
          <p:cNvSpPr/>
          <p:nvPr/>
        </p:nvSpPr>
        <p:spPr>
          <a:xfrm>
            <a:off x="812800" y="1778000"/>
            <a:ext cx="5105400" cy="0"/>
          </a:xfrm>
          <a:prstGeom prst="line">
            <a:avLst/>
          </a:prstGeom>
          <a:noFill/>
          <a:ln w="15875">
            <a:solidFill>
              <a:srgbClr val="D5D3CD"/>
            </a:solidFill>
            <a:prstDash val="solid"/>
          </a:ln>
        </p:spPr>
      </p:sp>
      <p:sp>
        <p:nvSpPr>
          <p:cNvPr id="5" name="Fixed-time light title"/>
          <p:cNvSpPr txBox="1"/>
          <p:nvPr/>
        </p:nvSpPr>
        <p:spPr>
          <a:xfrm>
            <a:off x="812800" y="1936750"/>
            <a:ext cx="5105400" cy="38100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Fixed-time light</a:t>
            </a:r>
            <a:endParaRPr lang="en-US" sz="2200" dirty="0"/>
          </a:p>
        </p:txBody>
      </p:sp>
      <p:sp>
        <p:nvSpPr>
          <p:cNvPr id="6" name="Fixed-time light text"/>
          <p:cNvSpPr txBox="1"/>
          <p:nvPr/>
        </p:nvSpPr>
        <p:spPr>
          <a:xfrm>
            <a:off x="812800" y="2362200"/>
            <a:ext cx="4724400" cy="57150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Same green and red durations whether the road is empty or jammed</a:t>
            </a:r>
            <a:endParaRPr lang="en-US" sz="1500" dirty="0"/>
          </a:p>
        </p:txBody>
      </p:sp>
      <p:sp>
        <p:nvSpPr>
          <p:cNvPr id="7" name="Learning light rule"/>
          <p:cNvSpPr/>
          <p:nvPr/>
        </p:nvSpPr>
        <p:spPr>
          <a:xfrm>
            <a:off x="6273800" y="1778000"/>
            <a:ext cx="5105400" cy="0"/>
          </a:xfrm>
          <a:prstGeom prst="line">
            <a:avLst/>
          </a:prstGeom>
          <a:noFill/>
          <a:ln w="15875">
            <a:solidFill>
              <a:srgbClr val="2F2E2B"/>
            </a:solidFill>
            <a:prstDash val="solid"/>
          </a:ln>
        </p:spPr>
      </p:sp>
      <p:sp>
        <p:nvSpPr>
          <p:cNvPr id="8" name="Learning light title"/>
          <p:cNvSpPr txBox="1"/>
          <p:nvPr/>
        </p:nvSpPr>
        <p:spPr>
          <a:xfrm>
            <a:off x="6273800" y="1936750"/>
            <a:ext cx="5105400" cy="38100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Learning light</a:t>
            </a:r>
            <a:endParaRPr lang="en-US" sz="2200" dirty="0"/>
          </a:p>
        </p:txBody>
      </p:sp>
      <p:sp>
        <p:nvSpPr>
          <p:cNvPr id="9" name="Learning light text"/>
          <p:cNvSpPr txBox="1"/>
          <p:nvPr/>
        </p:nvSpPr>
        <p:spPr>
          <a:xfrm>
            <a:off x="6273800" y="2362200"/>
            <a:ext cx="4724400" cy="57150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Watches real traffic and changes its timing on the fly</a:t>
            </a:r>
            <a:endParaRPr lang="en-US" sz="1500" dirty="0"/>
          </a:p>
        </p:txBody>
      </p:sp>
      <p:sp>
        <p:nvSpPr>
          <p:cNvPr id="10" name="Gap statement"/>
          <p:cNvSpPr txBox="1"/>
          <p:nvPr/>
        </p:nvSpPr>
        <p:spPr>
          <a:xfrm>
            <a:off x="812800" y="3365500"/>
            <a:ext cx="9207500" cy="730250"/>
          </a:xfrm>
          <a:prstGeom prst="rect">
            <a:avLst/>
          </a:prstGeom>
          <a:noFill/>
          <a:ln/>
        </p:spPr>
        <p:txBody>
          <a:bodyPr wrap="square" lIns="0" tIns="0" rIns="0" bIns="0" rtlCol="0" anchor="ctr"/>
          <a:lstStyle/>
          <a:p>
            <a:pPr indent="0" marL="0">
              <a:lnSpc>
                <a:spcPct val="110000"/>
              </a:lnSpc>
              <a:buNone/>
            </a:pPr>
            <a:r>
              <a:rPr lang="en-US" sz="1800" dirty="0">
                <a:solidFill>
                  <a:schemeClr val="tx1"/>
                </a:solidFill>
                <a:latin typeface="Calibri" pitchFamily="34" charset="0"/>
                <a:ea typeface="Calibri" pitchFamily="34" charset="-122"/>
                <a:cs typeface="Calibri" pitchFamily="34" charset="-120"/>
              </a:rPr>
              <a:t>Hundreds of studies report shorter waits </a:t>
            </a:r>
            <a:pPr indent="0" marL="0">
              <a:lnSpc>
                <a:spcPct val="110000"/>
              </a:lnSpc>
              <a:buNone/>
            </a:pPr>
            <a:r>
              <a:rPr lang="en-US" sz="1800" b="1" dirty="0">
                <a:solidFill>
                  <a:schemeClr val="tx1"/>
                </a:solidFill>
                <a:latin typeface="Calibri" pitchFamily="34" charset="0"/>
                <a:ea typeface="Calibri" pitchFamily="34" charset="-122"/>
                <a:cs typeface="Calibri" pitchFamily="34" charset="-120"/>
              </a:rPr>
              <a:t>in simulation</a:t>
            </a:r>
            <a:pPr indent="0" marL="0">
              <a:lnSpc>
                <a:spcPct val="110000"/>
              </a:lnSpc>
              <a:buNone/>
            </a:pPr>
            <a:r>
              <a:rPr lang="en-US" sz="1800" dirty="0">
                <a:solidFill>
                  <a:schemeClr val="tx1"/>
                </a:solidFill>
                <a:latin typeface="Calibri" pitchFamily="34" charset="0"/>
                <a:ea typeface="Calibri" pitchFamily="34" charset="-122"/>
                <a:cs typeface="Calibri" pitchFamily="34" charset="-120"/>
              </a:rPr>
              <a:t>, yet peer-reviewed tests on </a:t>
            </a:r>
            <a:pPr indent="0" marL="0">
              <a:lnSpc>
                <a:spcPct val="110000"/>
              </a:lnSpc>
              <a:buNone/>
            </a:pPr>
            <a:r>
              <a:rPr lang="en-US" sz="1800" b="1" dirty="0">
                <a:solidFill>
                  <a:schemeClr val="tx1"/>
                </a:solidFill>
                <a:latin typeface="Calibri" pitchFamily="34" charset="0"/>
                <a:ea typeface="Calibri" pitchFamily="34" charset="-122"/>
                <a:cs typeface="Calibri" pitchFamily="34" charset="-120"/>
              </a:rPr>
              <a:t>real streets</a:t>
            </a:r>
            <a:pPr indent="0" marL="0">
              <a:lnSpc>
                <a:spcPct val="110000"/>
              </a:lnSpc>
              <a:buNone/>
            </a:pPr>
            <a:r>
              <a:rPr lang="en-US" sz="1800" dirty="0">
                <a:solidFill>
                  <a:schemeClr val="tx1"/>
                </a:solidFill>
                <a:latin typeface="Calibri" pitchFamily="34" charset="0"/>
                <a:ea typeface="Calibri" pitchFamily="34" charset="-122"/>
                <a:cs typeface="Calibri" pitchFamily="34" charset="-120"/>
              </a:rPr>
              <a:t> are still very rare. Our review asks why this gap exists.</a:t>
            </a:r>
            <a:endParaRPr lang="en-US" sz="1800" dirty="0"/>
          </a:p>
        </p:txBody>
      </p:sp>
      <p:sp>
        <p:nvSpPr>
          <p:cNvPr id="25" name="Slide Number Placeholder 0"/>
          <p:cNvSpPr>
            <a:spLocks noGrp="1"/>
          </p:cNvSpPr>
          <p:nvPr>
            <p:ph type="sldNum" sz="quarter" idx="4294967295"/>
          </p:nvPr>
        </p:nvSpPr>
        <p:spPr>
          <a:xfrm>
            <a:off x="10744200" y="6286500"/>
            <a:ext cx="635000" cy="254000"/>
          </a:xfrm>
          <a:prstGeom prst="rect">
            <a:avLst/>
          </a:prstGeom>
          <a:extLst>
            <a:ext uri="{C572A759-6A51-4108-AA02-DFA0A04FC94B}">
              <ma14:wrappingTextBoxFlag xmlns:ma14="http://schemas.microsoft.com/office/mac/drawingml/2011/main" val="0"/>
            </a:ext>
          </a:extLst>
        </p:spPr>
        <p:txBody>
          <a:bodyPr/>
          <a:lstStyle>
            <a:lvl1pPr>
              <a:defRPr sz="1100">
                <a:solidFill>
                  <a:srgbClr val="6B6A6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812800" y="698500"/>
            <a:ext cx="10566400" cy="698500"/>
          </a:xfrm>
          <a:prstGeom prst="rect">
            <a:avLst/>
          </a:prstGeom>
          <a:noFill/>
          <a:ln/>
        </p:spPr>
        <p:txBody>
          <a:bodyPr wrap="square" lIns="0" tIns="0" rIns="0" bIns="0" rtlCol="0" anchor="ctr"/>
          <a:lstStyle/>
          <a:p>
            <a:pPr algn="l" indent="0" marL="0">
              <a:buNone/>
            </a:pPr>
            <a:r>
              <a:rPr lang="en-US" sz="3600" dirty="0">
                <a:solidFill>
                  <a:schemeClr val="tx1"/>
                </a:solidFill>
                <a:latin typeface="Cambria" pitchFamily="34" charset="0"/>
                <a:ea typeface="Cambria" pitchFamily="34" charset="-122"/>
                <a:cs typeface="Cambria" pitchFamily="34" charset="-120"/>
              </a:rPr>
              <a:t>A smart system in a loop</a:t>
            </a:r>
            <a:endParaRPr lang="en-US" sz="3600" dirty="0"/>
          </a:p>
        </p:txBody>
      </p:sp>
      <p:sp>
        <p:nvSpPr>
          <p:cNvPr id="4" name="Sense rule"/>
          <p:cNvSpPr/>
          <p:nvPr/>
        </p:nvSpPr>
        <p:spPr>
          <a:xfrm>
            <a:off x="812800" y="1778000"/>
            <a:ext cx="2451100" cy="0"/>
          </a:xfrm>
          <a:prstGeom prst="line">
            <a:avLst/>
          </a:prstGeom>
          <a:noFill/>
          <a:ln w="15875">
            <a:solidFill>
              <a:srgbClr val="2F2E2B"/>
            </a:solidFill>
            <a:prstDash val="solid"/>
          </a:ln>
        </p:spPr>
      </p:sp>
      <p:sp>
        <p:nvSpPr>
          <p:cNvPr id="5" name="Sense number"/>
          <p:cNvSpPr txBox="1"/>
          <p:nvPr/>
        </p:nvSpPr>
        <p:spPr>
          <a:xfrm>
            <a:off x="812800" y="1905000"/>
            <a:ext cx="2451100" cy="215900"/>
          </a:xfrm>
          <a:prstGeom prst="rect">
            <a:avLst/>
          </a:prstGeom>
          <a:noFill/>
          <a:ln/>
        </p:spPr>
        <p:txBody>
          <a:bodyPr wrap="square" lIns="0" tIns="0" rIns="0" bIns="0" rtlCol="0" anchor="t"/>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01</a:t>
            </a:r>
            <a:endParaRPr lang="en-US" sz="1200" dirty="0"/>
          </a:p>
        </p:txBody>
      </p:sp>
      <p:sp>
        <p:nvSpPr>
          <p:cNvPr id="6" name="Sense title"/>
          <p:cNvSpPr txBox="1"/>
          <p:nvPr/>
        </p:nvSpPr>
        <p:spPr>
          <a:xfrm>
            <a:off x="812800" y="2159000"/>
            <a:ext cx="2451100" cy="38100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Sense</a:t>
            </a:r>
            <a:endParaRPr lang="en-US" sz="2200" dirty="0"/>
          </a:p>
        </p:txBody>
      </p:sp>
      <p:sp>
        <p:nvSpPr>
          <p:cNvPr id="7" name="Sense text"/>
          <p:cNvSpPr txBox="1"/>
          <p:nvPr/>
        </p:nvSpPr>
        <p:spPr>
          <a:xfrm>
            <a:off x="812800" y="2571750"/>
            <a:ext cx="2324100" cy="6350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Cameras and road sensors measure queues and waiting cars</a:t>
            </a:r>
            <a:endParaRPr lang="en-US" sz="1400" dirty="0"/>
          </a:p>
        </p:txBody>
      </p:sp>
      <p:sp>
        <p:nvSpPr>
          <p:cNvPr id="8" name="Decide rule"/>
          <p:cNvSpPr/>
          <p:nvPr/>
        </p:nvSpPr>
        <p:spPr>
          <a:xfrm>
            <a:off x="3517900" y="1778000"/>
            <a:ext cx="2451100" cy="0"/>
          </a:xfrm>
          <a:prstGeom prst="line">
            <a:avLst/>
          </a:prstGeom>
          <a:noFill/>
          <a:ln w="15875">
            <a:solidFill>
              <a:srgbClr val="2F2E2B"/>
            </a:solidFill>
            <a:prstDash val="solid"/>
          </a:ln>
        </p:spPr>
      </p:sp>
      <p:sp>
        <p:nvSpPr>
          <p:cNvPr id="9" name="Decide number"/>
          <p:cNvSpPr txBox="1"/>
          <p:nvPr/>
        </p:nvSpPr>
        <p:spPr>
          <a:xfrm>
            <a:off x="3517900" y="1905000"/>
            <a:ext cx="2451100" cy="215900"/>
          </a:xfrm>
          <a:prstGeom prst="rect">
            <a:avLst/>
          </a:prstGeom>
          <a:noFill/>
          <a:ln/>
        </p:spPr>
        <p:txBody>
          <a:bodyPr wrap="square" lIns="0" tIns="0" rIns="0" bIns="0" rtlCol="0" anchor="t"/>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02</a:t>
            </a:r>
            <a:endParaRPr lang="en-US" sz="1200" dirty="0"/>
          </a:p>
        </p:txBody>
      </p:sp>
      <p:sp>
        <p:nvSpPr>
          <p:cNvPr id="10" name="Decide title"/>
          <p:cNvSpPr txBox="1"/>
          <p:nvPr/>
        </p:nvSpPr>
        <p:spPr>
          <a:xfrm>
            <a:off x="3517900" y="2159000"/>
            <a:ext cx="2451100" cy="38100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Decide</a:t>
            </a:r>
            <a:endParaRPr lang="en-US" sz="2200" dirty="0"/>
          </a:p>
        </p:txBody>
      </p:sp>
      <p:sp>
        <p:nvSpPr>
          <p:cNvPr id="11" name="Decide text"/>
          <p:cNvSpPr txBox="1"/>
          <p:nvPr/>
        </p:nvSpPr>
        <p:spPr>
          <a:xfrm>
            <a:off x="3517900" y="2571750"/>
            <a:ext cx="2324100" cy="6350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An RL agent picks the next green phase</a:t>
            </a:r>
            <a:endParaRPr lang="en-US" sz="1400" dirty="0"/>
          </a:p>
        </p:txBody>
      </p:sp>
      <p:sp>
        <p:nvSpPr>
          <p:cNvPr id="12" name="Act rule"/>
          <p:cNvSpPr/>
          <p:nvPr/>
        </p:nvSpPr>
        <p:spPr>
          <a:xfrm>
            <a:off x="6223000" y="1778000"/>
            <a:ext cx="2451100" cy="0"/>
          </a:xfrm>
          <a:prstGeom prst="line">
            <a:avLst/>
          </a:prstGeom>
          <a:noFill/>
          <a:ln w="15875">
            <a:solidFill>
              <a:srgbClr val="2F2E2B"/>
            </a:solidFill>
            <a:prstDash val="solid"/>
          </a:ln>
        </p:spPr>
      </p:sp>
      <p:sp>
        <p:nvSpPr>
          <p:cNvPr id="13" name="Act number"/>
          <p:cNvSpPr txBox="1"/>
          <p:nvPr/>
        </p:nvSpPr>
        <p:spPr>
          <a:xfrm>
            <a:off x="6223000" y="1905000"/>
            <a:ext cx="2451100" cy="215900"/>
          </a:xfrm>
          <a:prstGeom prst="rect">
            <a:avLst/>
          </a:prstGeom>
          <a:noFill/>
          <a:ln/>
        </p:spPr>
        <p:txBody>
          <a:bodyPr wrap="square" lIns="0" tIns="0" rIns="0" bIns="0" rtlCol="0" anchor="t"/>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03</a:t>
            </a:r>
            <a:endParaRPr lang="en-US" sz="1200" dirty="0"/>
          </a:p>
        </p:txBody>
      </p:sp>
      <p:sp>
        <p:nvSpPr>
          <p:cNvPr id="14" name="Act title"/>
          <p:cNvSpPr txBox="1"/>
          <p:nvPr/>
        </p:nvSpPr>
        <p:spPr>
          <a:xfrm>
            <a:off x="6223000" y="2159000"/>
            <a:ext cx="2451100" cy="38100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Act</a:t>
            </a:r>
            <a:endParaRPr lang="en-US" sz="2200" dirty="0"/>
          </a:p>
        </p:txBody>
      </p:sp>
      <p:sp>
        <p:nvSpPr>
          <p:cNvPr id="15" name="Act text"/>
          <p:cNvSpPr txBox="1"/>
          <p:nvPr/>
        </p:nvSpPr>
        <p:spPr>
          <a:xfrm>
            <a:off x="6223000" y="2571750"/>
            <a:ext cx="2324100" cy="6350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The signal switches on the real road</a:t>
            </a:r>
            <a:endParaRPr lang="en-US" sz="1400" dirty="0"/>
          </a:p>
        </p:txBody>
      </p:sp>
      <p:sp>
        <p:nvSpPr>
          <p:cNvPr id="16" name="Learn rule"/>
          <p:cNvSpPr/>
          <p:nvPr/>
        </p:nvSpPr>
        <p:spPr>
          <a:xfrm>
            <a:off x="8928100" y="1778000"/>
            <a:ext cx="2451100" cy="0"/>
          </a:xfrm>
          <a:prstGeom prst="line">
            <a:avLst/>
          </a:prstGeom>
          <a:noFill/>
          <a:ln w="15875">
            <a:solidFill>
              <a:srgbClr val="2F2E2B"/>
            </a:solidFill>
            <a:prstDash val="solid"/>
          </a:ln>
        </p:spPr>
      </p:sp>
      <p:sp>
        <p:nvSpPr>
          <p:cNvPr id="17" name="Learn number"/>
          <p:cNvSpPr txBox="1"/>
          <p:nvPr/>
        </p:nvSpPr>
        <p:spPr>
          <a:xfrm>
            <a:off x="8928100" y="1905000"/>
            <a:ext cx="2451100" cy="215900"/>
          </a:xfrm>
          <a:prstGeom prst="rect">
            <a:avLst/>
          </a:prstGeom>
          <a:noFill/>
          <a:ln/>
        </p:spPr>
        <p:txBody>
          <a:bodyPr wrap="square" lIns="0" tIns="0" rIns="0" bIns="0" rtlCol="0" anchor="t"/>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04</a:t>
            </a:r>
            <a:endParaRPr lang="en-US" sz="1200" dirty="0"/>
          </a:p>
        </p:txBody>
      </p:sp>
      <p:sp>
        <p:nvSpPr>
          <p:cNvPr id="18" name="Learn title"/>
          <p:cNvSpPr txBox="1"/>
          <p:nvPr/>
        </p:nvSpPr>
        <p:spPr>
          <a:xfrm>
            <a:off x="8928100" y="2159000"/>
            <a:ext cx="2451100" cy="38100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Learn</a:t>
            </a:r>
            <a:endParaRPr lang="en-US" sz="2200" dirty="0"/>
          </a:p>
        </p:txBody>
      </p:sp>
      <p:sp>
        <p:nvSpPr>
          <p:cNvPr id="19" name="Learn text"/>
          <p:cNvSpPr txBox="1"/>
          <p:nvPr/>
        </p:nvSpPr>
        <p:spPr>
          <a:xfrm>
            <a:off x="8928100" y="2571750"/>
            <a:ext cx="2324100" cy="6350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Less waiting earns a reward, so the policy improves</a:t>
            </a:r>
            <a:endParaRPr lang="en-US" sz="1400" dirty="0"/>
          </a:p>
        </p:txBody>
      </p:sp>
      <p:sp>
        <p:nvSpPr>
          <p:cNvPr id="20" name="Key point bar"/>
          <p:cNvSpPr/>
          <p:nvPr/>
        </p:nvSpPr>
        <p:spPr>
          <a:xfrm>
            <a:off x="812800" y="3619500"/>
            <a:ext cx="31750" cy="698500"/>
          </a:xfrm>
          <a:prstGeom prst="rect">
            <a:avLst/>
          </a:prstGeom>
          <a:solidFill>
            <a:schemeClr val="accent1"/>
          </a:solidFill>
          <a:ln/>
        </p:spPr>
      </p:sp>
      <p:sp>
        <p:nvSpPr>
          <p:cNvPr id="21" name="Key point"/>
          <p:cNvSpPr txBox="1"/>
          <p:nvPr/>
        </p:nvSpPr>
        <p:spPr>
          <a:xfrm>
            <a:off x="1016000" y="3619500"/>
            <a:ext cx="9207500" cy="730250"/>
          </a:xfrm>
          <a:prstGeom prst="rect">
            <a:avLst/>
          </a:prstGeom>
          <a:noFill/>
          <a:ln/>
        </p:spPr>
        <p:txBody>
          <a:bodyPr wrap="square" lIns="0" tIns="0" rIns="0" bIns="0" rtlCol="0" anchor="ctr"/>
          <a:lstStyle/>
          <a:p>
            <a:pPr indent="0" marL="0">
              <a:lnSpc>
                <a:spcPct val="110000"/>
              </a:lnSpc>
              <a:buNone/>
            </a:pPr>
            <a:r>
              <a:rPr lang="en-US" sz="1800" dirty="0">
                <a:solidFill>
                  <a:schemeClr val="tx1"/>
                </a:solidFill>
                <a:latin typeface="Calibri" pitchFamily="34" charset="0"/>
                <a:ea typeface="Calibri" pitchFamily="34" charset="-122"/>
                <a:cs typeface="Calibri" pitchFamily="34" charset="-120"/>
              </a:rPr>
              <a:t>The light learns its timing by </a:t>
            </a:r>
            <a:pPr indent="0" marL="0">
              <a:lnSpc>
                <a:spcPct val="110000"/>
              </a:lnSpc>
              <a:buNone/>
            </a:pPr>
            <a:r>
              <a:rPr lang="en-US" sz="1800" b="1" dirty="0">
                <a:solidFill>
                  <a:schemeClr val="tx1"/>
                </a:solidFill>
                <a:latin typeface="Calibri" pitchFamily="34" charset="0"/>
                <a:ea typeface="Calibri" pitchFamily="34" charset="-122"/>
                <a:cs typeface="Calibri" pitchFamily="34" charset="-120"/>
              </a:rPr>
              <a:t>trial and error</a:t>
            </a:r>
            <a:pPr indent="0" marL="0">
              <a:lnSpc>
                <a:spcPct val="110000"/>
              </a:lnSpc>
              <a:buNone/>
            </a:pPr>
            <a:r>
              <a:rPr lang="en-US" sz="1800" dirty="0">
                <a:solidFill>
                  <a:schemeClr val="tx1"/>
                </a:solidFill>
                <a:latin typeface="Calibri" pitchFamily="34" charset="0"/>
                <a:ea typeface="Calibri" pitchFamily="34" charset="-122"/>
                <a:cs typeface="Calibri" pitchFamily="34" charset="-120"/>
              </a:rPr>
              <a:t>, not from a hand-made plan. Mistakes during learning are why real streets are hard.</a:t>
            </a:r>
            <a:endParaRPr lang="en-US" sz="1800" dirty="0"/>
          </a:p>
        </p:txBody>
      </p:sp>
      <p:sp>
        <p:nvSpPr>
          <p:cNvPr id="25" name="Slide Number Placeholder 0"/>
          <p:cNvSpPr>
            <a:spLocks noGrp="1"/>
          </p:cNvSpPr>
          <p:nvPr>
            <p:ph type="sldNum" sz="quarter" idx="4294967295"/>
          </p:nvPr>
        </p:nvSpPr>
        <p:spPr>
          <a:xfrm>
            <a:off x="10744200" y="6286500"/>
            <a:ext cx="635000" cy="254000"/>
          </a:xfrm>
          <a:prstGeom prst="rect">
            <a:avLst/>
          </a:prstGeom>
          <a:extLst>
            <a:ext uri="{C572A759-6A51-4108-AA02-DFA0A04FC94B}">
              <ma14:wrappingTextBoxFlag xmlns:ma14="http://schemas.microsoft.com/office/mac/drawingml/2011/main" val="0"/>
            </a:ext>
          </a:extLst>
        </p:spPr>
        <p:txBody>
          <a:bodyPr/>
          <a:lstStyle>
            <a:lvl1pPr>
              <a:defRPr sz="1100">
                <a:solidFill>
                  <a:srgbClr val="6B6A6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812800" y="698500"/>
            <a:ext cx="10566400" cy="698500"/>
          </a:xfrm>
          <a:prstGeom prst="rect">
            <a:avLst/>
          </a:prstGeom>
          <a:noFill/>
          <a:ln/>
        </p:spPr>
        <p:txBody>
          <a:bodyPr wrap="square" lIns="0" tIns="0" rIns="0" bIns="0" rtlCol="0" anchor="ctr"/>
          <a:lstStyle/>
          <a:p>
            <a:pPr algn="l" indent="0" marL="0">
              <a:buNone/>
            </a:pPr>
            <a:r>
              <a:rPr lang="en-US" sz="3600" dirty="0">
                <a:solidFill>
                  <a:schemeClr val="tx1"/>
                </a:solidFill>
                <a:latin typeface="Cambria" pitchFamily="34" charset="0"/>
                <a:ea typeface="Cambria" pitchFamily="34" charset="-122"/>
                <a:cs typeface="Cambria" pitchFamily="34" charset="-120"/>
              </a:rPr>
              <a:t>Six research questions</a:t>
            </a:r>
            <a:endParaRPr lang="en-US" sz="3600" dirty="0"/>
          </a:p>
        </p:txBody>
      </p:sp>
      <p:graphicFrame>
        <p:nvGraphicFramePr>
          <p:cNvPr id="5" name="Research questions"/>
          <p:cNvGraphicFramePr>
            <a:graphicFrameLocks noGrp="1"/>
          </p:cNvGraphicFramePr>
          <p:nvPr>
            <p:extLst>
              <p:ext uri="{D42A27DB-BD31-4B8C-83A1-F6EECF244321}">
                <p14:modId xmlns:p14="http://schemas.microsoft.com/office/powerpoint/2010/main" val="1579011935"/>
              </p:ext>
            </p:extLst>
          </p:nvPr>
        </p:nvGraphicFramePr>
        <p:xfrm>
          <a:off x="812800" y="1746250"/>
          <a:ext cx="10566400" cy="914400"/>
        </p:xfrm>
        <a:graphic>
          <a:graphicData uri="http://schemas.openxmlformats.org/drawingml/2006/table">
            <a:tbl>
              <a:tblPr/>
              <a:tblGrid>
                <a:gridCol w="1901952"/>
                <a:gridCol w="5283200"/>
                <a:gridCol w="3381248"/>
              </a:tblGrid>
              <a:tr h="444500">
                <a:tc>
                  <a:txBody>
                    <a:bodyPr/>
                    <a:lstStyle/>
                    <a:p>
                      <a:pPr algn="l" indent="0" marL="0">
                        <a:buNone/>
                      </a:pPr>
                      <a:r>
                        <a:rPr lang="en-US" sz="1500" b="1" dirty="0">
                          <a:solidFill>
                            <a:srgbClr val="2F2E2B"/>
                          </a:solidFill>
                          <a:latin typeface="Calibri" pitchFamily="34" charset="0"/>
                          <a:ea typeface="Calibri" pitchFamily="34" charset="-122"/>
                          <a:cs typeface="Calibri" pitchFamily="34" charset="-120"/>
                        </a:rPr>
                        <a:t>Question</a:t>
                      </a:r>
                      <a:endParaRPr lang="en-US" sz="15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solidFill>
                      <a:srgbClr val="E8E6E1"/>
                    </a:solidFill>
                  </a:tcPr>
                </a:tc>
                <a:tc>
                  <a:txBody>
                    <a:bodyPr/>
                    <a:lstStyle/>
                    <a:p>
                      <a:pPr algn="l" indent="0" marL="0">
                        <a:buNone/>
                      </a:pPr>
                      <a:r>
                        <a:rPr lang="en-US" sz="1500" b="1" dirty="0">
                          <a:solidFill>
                            <a:srgbClr val="2F2E2B"/>
                          </a:solidFill>
                          <a:latin typeface="Calibri" pitchFamily="34" charset="0"/>
                          <a:ea typeface="Calibri" pitchFamily="34" charset="-122"/>
                          <a:cs typeface="Calibri" pitchFamily="34" charset="-120"/>
                        </a:rPr>
                        <a:t>What we ask</a:t>
                      </a:r>
                      <a:endParaRPr lang="en-US" sz="15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solidFill>
                      <a:srgbClr val="E8E6E1"/>
                    </a:solidFill>
                  </a:tcPr>
                </a:tc>
                <a:tc>
                  <a:txBody>
                    <a:bodyPr/>
                    <a:lstStyle/>
                    <a:p>
                      <a:pPr algn="l" indent="0" marL="0">
                        <a:buNone/>
                      </a:pPr>
                      <a:r>
                        <a:rPr lang="en-US" sz="1500" b="1" dirty="0">
                          <a:solidFill>
                            <a:srgbClr val="2F2E2B"/>
                          </a:solidFill>
                          <a:latin typeface="Calibri" pitchFamily="34" charset="0"/>
                          <a:ea typeface="Calibri" pitchFamily="34" charset="-122"/>
                          <a:cs typeface="Calibri" pitchFamily="34" charset="-120"/>
                        </a:rPr>
                        <a:t>What we extract</a:t>
                      </a:r>
                      <a:endParaRPr lang="en-US" sz="15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solidFill>
                      <a:srgbClr val="E8E6E1"/>
                    </a:solidFill>
                  </a:tcPr>
                </a:tc>
              </a:tr>
              <a:tr h="444500">
                <a:tc>
                  <a:txBody>
                    <a:bodyPr/>
                    <a:lstStyle/>
                    <a:p>
                      <a:pPr indent="0" marL="0">
                        <a:buNone/>
                      </a:pPr>
                      <a:r>
                        <a:rPr lang="en-US" sz="1500" dirty="0">
                          <a:solidFill>
                            <a:srgbClr val="2F2E2B"/>
                          </a:solidFill>
                          <a:latin typeface="Calibri" pitchFamily="34" charset="0"/>
                          <a:ea typeface="Calibri" pitchFamily="34" charset="-122"/>
                          <a:cs typeface="Calibri" pitchFamily="34" charset="-120"/>
                        </a:rPr>
                        <a:t>RQ1 Landscape</a:t>
                      </a:r>
                      <a:endParaRPr lang="en-US" sz="15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500" dirty="0">
                          <a:solidFill>
                            <a:srgbClr val="2F2E2B"/>
                          </a:solidFill>
                          <a:latin typeface="Calibri" pitchFamily="34" charset="0"/>
                          <a:ea typeface="Calibri" pitchFamily="34" charset="-122"/>
                          <a:cs typeface="Calibri" pitchFamily="34" charset="-120"/>
                        </a:rPr>
                        <a:t>How fast is the field growing, and where?</a:t>
                      </a:r>
                      <a:endParaRPr lang="en-US" sz="15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500" dirty="0">
                          <a:solidFill>
                            <a:srgbClr val="2F2E2B"/>
                          </a:solidFill>
                          <a:latin typeface="Calibri" pitchFamily="34" charset="0"/>
                          <a:ea typeface="Calibri" pitchFamily="34" charset="-122"/>
                          <a:cs typeface="Calibri" pitchFamily="34" charset="-120"/>
                        </a:rPr>
                        <a:t>Year, venue, country</a:t>
                      </a:r>
                      <a:endParaRPr lang="en-US" sz="15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r>
              <a:tr h="444500">
                <a:tc>
                  <a:txBody>
                    <a:bodyPr/>
                    <a:lstStyle/>
                    <a:p>
                      <a:pPr indent="0" marL="0">
                        <a:buNone/>
                      </a:pPr>
                      <a:r>
                        <a:rPr lang="en-US" sz="1500" dirty="0">
                          <a:solidFill>
                            <a:srgbClr val="2F2E2B"/>
                          </a:solidFill>
                          <a:latin typeface="Calibri" pitchFamily="34" charset="0"/>
                          <a:ea typeface="Calibri" pitchFamily="34" charset="-122"/>
                          <a:cs typeface="Calibri" pitchFamily="34" charset="-120"/>
                        </a:rPr>
                        <a:t>RQ2 Methods</a:t>
                      </a:r>
                      <a:endParaRPr lang="en-US" sz="15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500" dirty="0">
                          <a:solidFill>
                            <a:srgbClr val="2F2E2B"/>
                          </a:solidFill>
                          <a:latin typeface="Calibri" pitchFamily="34" charset="0"/>
                          <a:ea typeface="Calibri" pitchFamily="34" charset="-122"/>
                          <a:cs typeface="Calibri" pitchFamily="34" charset="-120"/>
                        </a:rPr>
                        <a:t>Which RL methods, states, actions and rewards?</a:t>
                      </a:r>
                      <a:endParaRPr lang="en-US" sz="15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500" dirty="0">
                          <a:solidFill>
                            <a:srgbClr val="2F2E2B"/>
                          </a:solidFill>
                          <a:latin typeface="Calibri" pitchFamily="34" charset="0"/>
                          <a:ea typeface="Calibri" pitchFamily="34" charset="-122"/>
                          <a:cs typeface="Calibri" pitchFamily="34" charset="-120"/>
                        </a:rPr>
                        <a:t>Algorithm, agents, reward</a:t>
                      </a:r>
                      <a:endParaRPr lang="en-US" sz="15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r>
              <a:tr h="444500">
                <a:tc>
                  <a:txBody>
                    <a:bodyPr/>
                    <a:lstStyle/>
                    <a:p>
                      <a:pPr indent="0" marL="0">
                        <a:buNone/>
                      </a:pPr>
                      <a:r>
                        <a:rPr lang="en-US" sz="1500" dirty="0">
                          <a:solidFill>
                            <a:srgbClr val="2F2E2B"/>
                          </a:solidFill>
                          <a:latin typeface="Calibri" pitchFamily="34" charset="0"/>
                          <a:ea typeface="Calibri" pitchFamily="34" charset="-122"/>
                          <a:cs typeface="Calibri" pitchFamily="34" charset="-120"/>
                        </a:rPr>
                        <a:t>RQ3 Validation</a:t>
                      </a:r>
                      <a:endParaRPr lang="en-US" sz="15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500" dirty="0">
                          <a:solidFill>
                            <a:srgbClr val="2F2E2B"/>
                          </a:solidFill>
                          <a:latin typeface="Calibri" pitchFamily="34" charset="0"/>
                          <a:ea typeface="Calibri" pitchFamily="34" charset="-122"/>
                          <a:cs typeface="Calibri" pitchFamily="34" charset="-120"/>
                        </a:rPr>
                        <a:t>Tested only in simulators, or on real roads?</a:t>
                      </a:r>
                      <a:endParaRPr lang="en-US" sz="15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500" dirty="0">
                          <a:solidFill>
                            <a:srgbClr val="2F2E2B"/>
                          </a:solidFill>
                          <a:latin typeface="Calibri" pitchFamily="34" charset="0"/>
                          <a:ea typeface="Calibri" pitchFamily="34" charset="-122"/>
                          <a:cs typeface="Calibri" pitchFamily="34" charset="-120"/>
                        </a:rPr>
                        <a:t>Simulator, data, realism level</a:t>
                      </a:r>
                      <a:endParaRPr lang="en-US" sz="15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r>
              <a:tr h="444500">
                <a:tc>
                  <a:txBody>
                    <a:bodyPr/>
                    <a:lstStyle/>
                    <a:p>
                      <a:pPr indent="0" marL="0">
                        <a:buNone/>
                      </a:pPr>
                      <a:r>
                        <a:rPr lang="en-US" sz="1500" dirty="0">
                          <a:solidFill>
                            <a:srgbClr val="2F2E2B"/>
                          </a:solidFill>
                          <a:latin typeface="Calibri" pitchFamily="34" charset="0"/>
                          <a:ea typeface="Calibri" pitchFamily="34" charset="-122"/>
                          <a:cs typeface="Calibri" pitchFamily="34" charset="-120"/>
                        </a:rPr>
                        <a:t>RQ4 Performance</a:t>
                      </a:r>
                      <a:endParaRPr lang="en-US" sz="15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500" dirty="0">
                          <a:solidFill>
                            <a:srgbClr val="2F2E2B"/>
                          </a:solidFill>
                          <a:latin typeface="Calibri" pitchFamily="34" charset="0"/>
                          <a:ea typeface="Calibri" pitchFamily="34" charset="-122"/>
                          <a:cs typeface="Calibri" pitchFamily="34" charset="-120"/>
                        </a:rPr>
                        <a:t>How much do waits, queues and travel times drop?</a:t>
                      </a:r>
                      <a:endParaRPr lang="en-US" sz="15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500" dirty="0">
                          <a:solidFill>
                            <a:srgbClr val="2F2E2B"/>
                          </a:solidFill>
                          <a:latin typeface="Calibri" pitchFamily="34" charset="0"/>
                          <a:ea typeface="Calibri" pitchFamily="34" charset="-122"/>
                          <a:cs typeface="Calibri" pitchFamily="34" charset="-120"/>
                        </a:rPr>
                        <a:t>Values against baselines</a:t>
                      </a:r>
                      <a:endParaRPr lang="en-US" sz="15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r>
              <a:tr h="444500">
                <a:tc>
                  <a:txBody>
                    <a:bodyPr/>
                    <a:lstStyle/>
                    <a:p>
                      <a:pPr indent="0" marL="0">
                        <a:buNone/>
                      </a:pPr>
                      <a:r>
                        <a:rPr lang="en-US" sz="1500" dirty="0">
                          <a:solidFill>
                            <a:srgbClr val="2F2E2B"/>
                          </a:solidFill>
                          <a:latin typeface="Calibri" pitchFamily="34" charset="0"/>
                          <a:ea typeface="Calibri" pitchFamily="34" charset="-122"/>
                          <a:cs typeface="Calibri" pitchFamily="34" charset="-120"/>
                        </a:rPr>
                        <a:t>RQ5 Barriers</a:t>
                      </a:r>
                      <a:endParaRPr lang="en-US" sz="15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500" dirty="0">
                          <a:solidFill>
                            <a:srgbClr val="2F2E2B"/>
                          </a:solidFill>
                          <a:latin typeface="Calibri" pitchFamily="34" charset="0"/>
                          <a:ea typeface="Calibri" pitchFamily="34" charset="-122"/>
                          <a:cs typeface="Calibri" pitchFamily="34" charset="-120"/>
                        </a:rPr>
                        <a:t>What stops RL lights from reaching real cities?</a:t>
                      </a:r>
                      <a:endParaRPr lang="en-US" sz="15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500" dirty="0">
                          <a:solidFill>
                            <a:srgbClr val="2F2E2B"/>
                          </a:solidFill>
                          <a:latin typeface="Calibri" pitchFamily="34" charset="0"/>
                          <a:ea typeface="Calibri" pitchFamily="34" charset="-122"/>
                          <a:cs typeface="Calibri" pitchFamily="34" charset="-120"/>
                        </a:rPr>
                        <a:t>Barriers and proposed fixes</a:t>
                      </a:r>
                      <a:endParaRPr lang="en-US" sz="15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r>
              <a:tr h="444500">
                <a:tc>
                  <a:txBody>
                    <a:bodyPr/>
                    <a:lstStyle/>
                    <a:p>
                      <a:pPr indent="0" marL="0">
                        <a:buNone/>
                      </a:pPr>
                      <a:r>
                        <a:rPr lang="en-US" sz="1500" dirty="0">
                          <a:solidFill>
                            <a:srgbClr val="2F2E2B"/>
                          </a:solidFill>
                          <a:latin typeface="Calibri" pitchFamily="34" charset="0"/>
                          <a:ea typeface="Calibri" pitchFamily="34" charset="-122"/>
                          <a:cs typeface="Calibri" pitchFamily="34" charset="-120"/>
                        </a:rPr>
                        <a:t>RQ6 Future</a:t>
                      </a:r>
                      <a:endParaRPr lang="en-US" sz="15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500" dirty="0">
                          <a:solidFill>
                            <a:srgbClr val="2F2E2B"/>
                          </a:solidFill>
                          <a:latin typeface="Calibri" pitchFamily="34" charset="0"/>
                          <a:ea typeface="Calibri" pitchFamily="34" charset="-122"/>
                          <a:cs typeface="Calibri" pitchFamily="34" charset="-120"/>
                        </a:rPr>
                        <a:t>Which gaps remain, and what should come next?</a:t>
                      </a:r>
                      <a:endParaRPr lang="en-US" sz="15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500" dirty="0">
                          <a:solidFill>
                            <a:srgbClr val="2F2E2B"/>
                          </a:solidFill>
                          <a:latin typeface="Calibri" pitchFamily="34" charset="0"/>
                          <a:ea typeface="Calibri" pitchFamily="34" charset="-122"/>
                          <a:cs typeface="Calibri" pitchFamily="34" charset="-120"/>
                        </a:rPr>
                        <a:t>Gap matrix</a:t>
                      </a:r>
                      <a:endParaRPr lang="en-US" sz="15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744200" y="6286500"/>
            <a:ext cx="635000" cy="254000"/>
          </a:xfrm>
          <a:prstGeom prst="rect">
            <a:avLst/>
          </a:prstGeom>
          <a:extLst>
            <a:ext uri="{C572A759-6A51-4108-AA02-DFA0A04FC94B}">
              <ma14:wrappingTextBoxFlag xmlns:ma14="http://schemas.microsoft.com/office/mac/drawingml/2011/main" val="0"/>
            </a:ext>
          </a:extLst>
        </p:spPr>
        <p:txBody>
          <a:bodyPr/>
          <a:lstStyle>
            <a:lvl1pPr>
              <a:defRPr sz="1100">
                <a:solidFill>
                  <a:srgbClr val="6B6A64"/>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812800" y="698500"/>
            <a:ext cx="10566400" cy="698500"/>
          </a:xfrm>
          <a:prstGeom prst="rect">
            <a:avLst/>
          </a:prstGeom>
          <a:noFill/>
          <a:ln/>
        </p:spPr>
        <p:txBody>
          <a:bodyPr wrap="square" lIns="0" tIns="0" rIns="0" bIns="0" rtlCol="0" anchor="ctr"/>
          <a:lstStyle/>
          <a:p>
            <a:pPr algn="l" indent="0" marL="0">
              <a:buNone/>
            </a:pPr>
            <a:r>
              <a:rPr lang="en-US" sz="3600" dirty="0">
                <a:solidFill>
                  <a:schemeClr val="tx1"/>
                </a:solidFill>
                <a:latin typeface="Cambria" pitchFamily="34" charset="0"/>
                <a:ea typeface="Cambria" pitchFamily="34" charset="-122"/>
                <a:cs typeface="Cambria" pitchFamily="34" charset="-120"/>
              </a:rPr>
              <a:t>How we review: PRISMA 2020</a:t>
            </a:r>
            <a:endParaRPr lang="en-US" sz="3600" dirty="0"/>
          </a:p>
        </p:txBody>
      </p:sp>
      <p:sp>
        <p:nvSpPr>
          <p:cNvPr id="4" name="Intro"/>
          <p:cNvSpPr txBox="1"/>
          <p:nvPr/>
        </p:nvSpPr>
        <p:spPr>
          <a:xfrm>
            <a:off x="812800" y="1492250"/>
            <a:ext cx="10566400" cy="28575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The international standard for systematic reviews, in six stages.</a:t>
            </a:r>
            <a:endParaRPr lang="en-US" sz="1500" dirty="0"/>
          </a:p>
        </p:txBody>
      </p:sp>
      <p:sp>
        <p:nvSpPr>
          <p:cNvPr id="5" name="Plan rule"/>
          <p:cNvSpPr/>
          <p:nvPr/>
        </p:nvSpPr>
        <p:spPr>
          <a:xfrm>
            <a:off x="812800" y="2032000"/>
            <a:ext cx="3318933" cy="0"/>
          </a:xfrm>
          <a:prstGeom prst="line">
            <a:avLst/>
          </a:prstGeom>
          <a:noFill/>
          <a:ln w="15875">
            <a:solidFill>
              <a:srgbClr val="2F2E2B"/>
            </a:solidFill>
            <a:prstDash val="solid"/>
          </a:ln>
        </p:spPr>
      </p:sp>
      <p:sp>
        <p:nvSpPr>
          <p:cNvPr id="6" name="Plan number"/>
          <p:cNvSpPr txBox="1"/>
          <p:nvPr/>
        </p:nvSpPr>
        <p:spPr>
          <a:xfrm>
            <a:off x="812800" y="2146300"/>
            <a:ext cx="3318933" cy="215900"/>
          </a:xfrm>
          <a:prstGeom prst="rect">
            <a:avLst/>
          </a:prstGeom>
          <a:noFill/>
          <a:ln/>
        </p:spPr>
        <p:txBody>
          <a:bodyPr wrap="square" lIns="0" tIns="0" rIns="0" bIns="0" rtlCol="0" anchor="t"/>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01</a:t>
            </a:r>
            <a:endParaRPr lang="en-US" sz="1200" dirty="0"/>
          </a:p>
        </p:txBody>
      </p:sp>
      <p:sp>
        <p:nvSpPr>
          <p:cNvPr id="7" name="Plan title"/>
          <p:cNvSpPr txBox="1"/>
          <p:nvPr/>
        </p:nvSpPr>
        <p:spPr>
          <a:xfrm>
            <a:off x="812800" y="2387600"/>
            <a:ext cx="3318933" cy="38100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Plan</a:t>
            </a:r>
            <a:endParaRPr lang="en-US" sz="2200" dirty="0"/>
          </a:p>
        </p:txBody>
      </p:sp>
      <p:sp>
        <p:nvSpPr>
          <p:cNvPr id="8" name="Plan text"/>
          <p:cNvSpPr txBox="1"/>
          <p:nvPr/>
        </p:nvSpPr>
        <p:spPr>
          <a:xfrm>
            <a:off x="812800" y="2794000"/>
            <a:ext cx="3191933" cy="5715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Protocol, questions and criteria fixed before searching</a:t>
            </a:r>
            <a:endParaRPr lang="en-US" sz="1400" dirty="0"/>
          </a:p>
        </p:txBody>
      </p:sp>
      <p:sp>
        <p:nvSpPr>
          <p:cNvPr id="9" name="Search rule"/>
          <p:cNvSpPr/>
          <p:nvPr/>
        </p:nvSpPr>
        <p:spPr>
          <a:xfrm>
            <a:off x="4436533" y="2032000"/>
            <a:ext cx="3318933" cy="0"/>
          </a:xfrm>
          <a:prstGeom prst="line">
            <a:avLst/>
          </a:prstGeom>
          <a:noFill/>
          <a:ln w="15875">
            <a:solidFill>
              <a:srgbClr val="2F2E2B"/>
            </a:solidFill>
            <a:prstDash val="solid"/>
          </a:ln>
        </p:spPr>
      </p:sp>
      <p:sp>
        <p:nvSpPr>
          <p:cNvPr id="10" name="Search number"/>
          <p:cNvSpPr txBox="1"/>
          <p:nvPr/>
        </p:nvSpPr>
        <p:spPr>
          <a:xfrm>
            <a:off x="4436533" y="2146300"/>
            <a:ext cx="3318933" cy="215900"/>
          </a:xfrm>
          <a:prstGeom prst="rect">
            <a:avLst/>
          </a:prstGeom>
          <a:noFill/>
          <a:ln/>
        </p:spPr>
        <p:txBody>
          <a:bodyPr wrap="square" lIns="0" tIns="0" rIns="0" bIns="0" rtlCol="0" anchor="t"/>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02</a:t>
            </a:r>
            <a:endParaRPr lang="en-US" sz="1200" dirty="0"/>
          </a:p>
        </p:txBody>
      </p:sp>
      <p:sp>
        <p:nvSpPr>
          <p:cNvPr id="11" name="Search title"/>
          <p:cNvSpPr txBox="1"/>
          <p:nvPr/>
        </p:nvSpPr>
        <p:spPr>
          <a:xfrm>
            <a:off x="4436533" y="2387600"/>
            <a:ext cx="3318933" cy="38100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Search</a:t>
            </a:r>
            <a:endParaRPr lang="en-US" sz="2200" dirty="0"/>
          </a:p>
        </p:txBody>
      </p:sp>
      <p:sp>
        <p:nvSpPr>
          <p:cNvPr id="12" name="Search text"/>
          <p:cNvSpPr txBox="1"/>
          <p:nvPr/>
        </p:nvSpPr>
        <p:spPr>
          <a:xfrm>
            <a:off x="4436533" y="2794000"/>
            <a:ext cx="3191933" cy="5715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Scopus, Web of Science and IEEE Xplore, 2019–2026</a:t>
            </a:r>
            <a:endParaRPr lang="en-US" sz="1400" dirty="0"/>
          </a:p>
        </p:txBody>
      </p:sp>
      <p:sp>
        <p:nvSpPr>
          <p:cNvPr id="13" name="Screen rule"/>
          <p:cNvSpPr/>
          <p:nvPr/>
        </p:nvSpPr>
        <p:spPr>
          <a:xfrm>
            <a:off x="8060267" y="2032000"/>
            <a:ext cx="3318933" cy="0"/>
          </a:xfrm>
          <a:prstGeom prst="line">
            <a:avLst/>
          </a:prstGeom>
          <a:noFill/>
          <a:ln w="15875">
            <a:solidFill>
              <a:srgbClr val="2F2E2B"/>
            </a:solidFill>
            <a:prstDash val="solid"/>
          </a:ln>
        </p:spPr>
      </p:sp>
      <p:sp>
        <p:nvSpPr>
          <p:cNvPr id="14" name="Screen number"/>
          <p:cNvSpPr txBox="1"/>
          <p:nvPr/>
        </p:nvSpPr>
        <p:spPr>
          <a:xfrm>
            <a:off x="8060267" y="2146300"/>
            <a:ext cx="3318933" cy="215900"/>
          </a:xfrm>
          <a:prstGeom prst="rect">
            <a:avLst/>
          </a:prstGeom>
          <a:noFill/>
          <a:ln/>
        </p:spPr>
        <p:txBody>
          <a:bodyPr wrap="square" lIns="0" tIns="0" rIns="0" bIns="0" rtlCol="0" anchor="t"/>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03</a:t>
            </a:r>
            <a:endParaRPr lang="en-US" sz="1200" dirty="0"/>
          </a:p>
        </p:txBody>
      </p:sp>
      <p:sp>
        <p:nvSpPr>
          <p:cNvPr id="15" name="Screen title"/>
          <p:cNvSpPr txBox="1"/>
          <p:nvPr/>
        </p:nvSpPr>
        <p:spPr>
          <a:xfrm>
            <a:off x="8060267" y="2387600"/>
            <a:ext cx="3318933" cy="38100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Screen</a:t>
            </a:r>
            <a:endParaRPr lang="en-US" sz="2200" dirty="0"/>
          </a:p>
        </p:txBody>
      </p:sp>
      <p:sp>
        <p:nvSpPr>
          <p:cNvPr id="16" name="Screen text"/>
          <p:cNvSpPr txBox="1"/>
          <p:nvPr/>
        </p:nvSpPr>
        <p:spPr>
          <a:xfrm>
            <a:off x="8060267" y="2794000"/>
            <a:ext cx="3191933" cy="5715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Two reviewers: title and abstract, then full text</a:t>
            </a:r>
            <a:endParaRPr lang="en-US" sz="1400" dirty="0"/>
          </a:p>
        </p:txBody>
      </p:sp>
      <p:sp>
        <p:nvSpPr>
          <p:cNvPr id="17" name="Assess quality rule"/>
          <p:cNvSpPr/>
          <p:nvPr/>
        </p:nvSpPr>
        <p:spPr>
          <a:xfrm>
            <a:off x="812800" y="3683000"/>
            <a:ext cx="3318933" cy="0"/>
          </a:xfrm>
          <a:prstGeom prst="line">
            <a:avLst/>
          </a:prstGeom>
          <a:noFill/>
          <a:ln w="15875">
            <a:solidFill>
              <a:srgbClr val="2F2E2B"/>
            </a:solidFill>
            <a:prstDash val="solid"/>
          </a:ln>
        </p:spPr>
      </p:sp>
      <p:sp>
        <p:nvSpPr>
          <p:cNvPr id="18" name="Assess quality number"/>
          <p:cNvSpPr txBox="1"/>
          <p:nvPr/>
        </p:nvSpPr>
        <p:spPr>
          <a:xfrm>
            <a:off x="812800" y="3797300"/>
            <a:ext cx="3318933" cy="215900"/>
          </a:xfrm>
          <a:prstGeom prst="rect">
            <a:avLst/>
          </a:prstGeom>
          <a:noFill/>
          <a:ln/>
        </p:spPr>
        <p:txBody>
          <a:bodyPr wrap="square" lIns="0" tIns="0" rIns="0" bIns="0" rtlCol="0" anchor="t"/>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04</a:t>
            </a:r>
            <a:endParaRPr lang="en-US" sz="1200" dirty="0"/>
          </a:p>
        </p:txBody>
      </p:sp>
      <p:sp>
        <p:nvSpPr>
          <p:cNvPr id="19" name="Assess quality title"/>
          <p:cNvSpPr txBox="1"/>
          <p:nvPr/>
        </p:nvSpPr>
        <p:spPr>
          <a:xfrm>
            <a:off x="812800" y="4038600"/>
            <a:ext cx="3318933" cy="38100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Assess quality</a:t>
            </a:r>
            <a:endParaRPr lang="en-US" sz="2200" dirty="0"/>
          </a:p>
        </p:txBody>
      </p:sp>
      <p:sp>
        <p:nvSpPr>
          <p:cNvPr id="20" name="Assess quality text"/>
          <p:cNvSpPr txBox="1"/>
          <p:nvPr/>
        </p:nvSpPr>
        <p:spPr>
          <a:xfrm>
            <a:off x="812800" y="4445000"/>
            <a:ext cx="3191933" cy="5715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Five criteria scored 0–2, maximum 10 points</a:t>
            </a:r>
            <a:endParaRPr lang="en-US" sz="1400" dirty="0"/>
          </a:p>
        </p:txBody>
      </p:sp>
      <p:sp>
        <p:nvSpPr>
          <p:cNvPr id="21" name="Extract rule"/>
          <p:cNvSpPr/>
          <p:nvPr/>
        </p:nvSpPr>
        <p:spPr>
          <a:xfrm>
            <a:off x="4436533" y="3683000"/>
            <a:ext cx="3318933" cy="0"/>
          </a:xfrm>
          <a:prstGeom prst="line">
            <a:avLst/>
          </a:prstGeom>
          <a:noFill/>
          <a:ln w="15875">
            <a:solidFill>
              <a:srgbClr val="2F2E2B"/>
            </a:solidFill>
            <a:prstDash val="solid"/>
          </a:ln>
        </p:spPr>
      </p:sp>
      <p:sp>
        <p:nvSpPr>
          <p:cNvPr id="22" name="Extract number"/>
          <p:cNvSpPr txBox="1"/>
          <p:nvPr/>
        </p:nvSpPr>
        <p:spPr>
          <a:xfrm>
            <a:off x="4436533" y="3797300"/>
            <a:ext cx="3318933" cy="215900"/>
          </a:xfrm>
          <a:prstGeom prst="rect">
            <a:avLst/>
          </a:prstGeom>
          <a:noFill/>
          <a:ln/>
        </p:spPr>
        <p:txBody>
          <a:bodyPr wrap="square" lIns="0" tIns="0" rIns="0" bIns="0" rtlCol="0" anchor="t"/>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05</a:t>
            </a:r>
            <a:endParaRPr lang="en-US" sz="1200" dirty="0"/>
          </a:p>
        </p:txBody>
      </p:sp>
      <p:sp>
        <p:nvSpPr>
          <p:cNvPr id="23" name="Extract title"/>
          <p:cNvSpPr txBox="1"/>
          <p:nvPr/>
        </p:nvSpPr>
        <p:spPr>
          <a:xfrm>
            <a:off x="4436533" y="4038600"/>
            <a:ext cx="3318933" cy="38100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Extract</a:t>
            </a:r>
            <a:endParaRPr lang="en-US" sz="2200" dirty="0"/>
          </a:p>
        </p:txBody>
      </p:sp>
      <p:sp>
        <p:nvSpPr>
          <p:cNvPr id="24" name="Extract text"/>
          <p:cNvSpPr txBox="1"/>
          <p:nvPr/>
        </p:nvSpPr>
        <p:spPr>
          <a:xfrm>
            <a:off x="4436533" y="4445000"/>
            <a:ext cx="3191933" cy="5715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One codebook; every number traced to its table or page</a:t>
            </a:r>
            <a:endParaRPr lang="en-US" sz="1400" dirty="0"/>
          </a:p>
        </p:txBody>
      </p:sp>
      <p:sp>
        <p:nvSpPr>
          <p:cNvPr id="25" name="Synthesise rule"/>
          <p:cNvSpPr/>
          <p:nvPr/>
        </p:nvSpPr>
        <p:spPr>
          <a:xfrm>
            <a:off x="8060267" y="3683000"/>
            <a:ext cx="3318933" cy="0"/>
          </a:xfrm>
          <a:prstGeom prst="line">
            <a:avLst/>
          </a:prstGeom>
          <a:noFill/>
          <a:ln w="15875">
            <a:solidFill>
              <a:srgbClr val="2F2E2B"/>
            </a:solidFill>
            <a:prstDash val="solid"/>
          </a:ln>
        </p:spPr>
      </p:sp>
      <p:sp>
        <p:nvSpPr>
          <p:cNvPr id="26" name="Synthesise number"/>
          <p:cNvSpPr txBox="1"/>
          <p:nvPr/>
        </p:nvSpPr>
        <p:spPr>
          <a:xfrm>
            <a:off x="8060267" y="3797300"/>
            <a:ext cx="3318933" cy="215900"/>
          </a:xfrm>
          <a:prstGeom prst="rect">
            <a:avLst/>
          </a:prstGeom>
          <a:noFill/>
          <a:ln/>
        </p:spPr>
        <p:txBody>
          <a:bodyPr wrap="square" lIns="0" tIns="0" rIns="0" bIns="0" rtlCol="0" anchor="t"/>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06</a:t>
            </a:r>
            <a:endParaRPr lang="en-US" sz="1200" dirty="0"/>
          </a:p>
        </p:txBody>
      </p:sp>
      <p:sp>
        <p:nvSpPr>
          <p:cNvPr id="27" name="Synthesise title"/>
          <p:cNvSpPr txBox="1"/>
          <p:nvPr/>
        </p:nvSpPr>
        <p:spPr>
          <a:xfrm>
            <a:off x="8060267" y="4038600"/>
            <a:ext cx="3318933" cy="38100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Synthesise</a:t>
            </a:r>
            <a:endParaRPr lang="en-US" sz="2200" dirty="0"/>
          </a:p>
        </p:txBody>
      </p:sp>
      <p:sp>
        <p:nvSpPr>
          <p:cNvPr id="28" name="Synthesise text"/>
          <p:cNvSpPr txBox="1"/>
          <p:nvPr/>
        </p:nvSpPr>
        <p:spPr>
          <a:xfrm>
            <a:off x="8060267" y="4445000"/>
            <a:ext cx="3191933" cy="5715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Taxonomy, statistics, gaps and the PRISMA flow diagram</a:t>
            </a:r>
            <a:endParaRPr lang="en-US" sz="1400" dirty="0"/>
          </a:p>
        </p:txBody>
      </p:sp>
      <p:sp>
        <p:nvSpPr>
          <p:cNvPr id="25" name="Slide Number Placeholder 0"/>
          <p:cNvSpPr>
            <a:spLocks noGrp="1"/>
          </p:cNvSpPr>
          <p:nvPr>
            <p:ph type="sldNum" sz="quarter" idx="4294967295"/>
          </p:nvPr>
        </p:nvSpPr>
        <p:spPr>
          <a:xfrm>
            <a:off x="10744200" y="6286500"/>
            <a:ext cx="635000" cy="254000"/>
          </a:xfrm>
          <a:prstGeom prst="rect">
            <a:avLst/>
          </a:prstGeom>
          <a:extLst>
            <a:ext uri="{C572A759-6A51-4108-AA02-DFA0A04FC94B}">
              <ma14:wrappingTextBoxFlag xmlns:ma14="http://schemas.microsoft.com/office/mac/drawingml/2011/main" val="0"/>
            </a:ext>
          </a:extLst>
        </p:spPr>
        <p:txBody>
          <a:bodyPr/>
          <a:lstStyle>
            <a:lvl1pPr>
              <a:defRPr sz="1100">
                <a:solidFill>
                  <a:srgbClr val="6B6A6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812800" y="698500"/>
            <a:ext cx="10566400" cy="698500"/>
          </a:xfrm>
          <a:prstGeom prst="rect">
            <a:avLst/>
          </a:prstGeom>
          <a:noFill/>
          <a:ln/>
        </p:spPr>
        <p:txBody>
          <a:bodyPr wrap="square" lIns="0" tIns="0" rIns="0" bIns="0" rtlCol="0" anchor="ctr"/>
          <a:lstStyle/>
          <a:p>
            <a:pPr algn="l" indent="0" marL="0">
              <a:buNone/>
            </a:pPr>
            <a:r>
              <a:rPr lang="en-US" sz="3600" dirty="0">
                <a:solidFill>
                  <a:schemeClr val="tx1"/>
                </a:solidFill>
                <a:latin typeface="Cambria" pitchFamily="34" charset="0"/>
                <a:ea typeface="Cambria" pitchFamily="34" charset="-122"/>
                <a:cs typeface="Cambria" pitchFamily="34" charset="-120"/>
              </a:rPr>
              <a:t>Search strategy</a:t>
            </a:r>
            <a:endParaRPr lang="en-US" sz="3600" dirty="0"/>
          </a:p>
        </p:txBody>
      </p:sp>
      <p:sp>
        <p:nvSpPr>
          <p:cNvPr id="4" name="Reinforcement learning box"/>
          <p:cNvSpPr/>
          <p:nvPr/>
        </p:nvSpPr>
        <p:spPr>
          <a:xfrm>
            <a:off x="812800" y="1714500"/>
            <a:ext cx="4648200" cy="1841500"/>
          </a:xfrm>
          <a:prstGeom prst="roundRect">
            <a:avLst>
              <a:gd name="adj" fmla="val 5959"/>
            </a:avLst>
          </a:prstGeom>
          <a:solidFill>
            <a:schemeClr val="bg1"/>
          </a:solidFill>
          <a:ln w="12700">
            <a:solidFill>
              <a:srgbClr val="D5D3CD"/>
            </a:solidFill>
            <a:prstDash val="solid"/>
          </a:ln>
        </p:spPr>
      </p:sp>
      <p:sp>
        <p:nvSpPr>
          <p:cNvPr id="5" name="Reinforcement learning label"/>
          <p:cNvSpPr txBox="1"/>
          <p:nvPr/>
        </p:nvSpPr>
        <p:spPr>
          <a:xfrm>
            <a:off x="1041400" y="1930400"/>
            <a:ext cx="4191000" cy="215900"/>
          </a:xfrm>
          <a:prstGeom prst="rect">
            <a:avLst/>
          </a:prstGeom>
          <a:noFill/>
          <a:ln/>
        </p:spPr>
        <p:txBody>
          <a:bodyPr wrap="square" lIns="0" tIns="0" rIns="0" bIns="0" rtlCol="0" anchor="t"/>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CONCEPT A · METHOD</a:t>
            </a:r>
            <a:endParaRPr lang="en-US" sz="1200" dirty="0"/>
          </a:p>
        </p:txBody>
      </p:sp>
      <p:sp>
        <p:nvSpPr>
          <p:cNvPr id="6" name="Reinforcement learning title"/>
          <p:cNvSpPr txBox="1"/>
          <p:nvPr/>
        </p:nvSpPr>
        <p:spPr>
          <a:xfrm>
            <a:off x="1041400" y="2197100"/>
            <a:ext cx="4191000" cy="38100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Reinforcement learning</a:t>
            </a:r>
            <a:endParaRPr lang="en-US" sz="2200" dirty="0"/>
          </a:p>
        </p:txBody>
      </p:sp>
      <p:sp>
        <p:nvSpPr>
          <p:cNvPr id="7" name="Reinforcement learning terms"/>
          <p:cNvSpPr txBox="1"/>
          <p:nvPr/>
        </p:nvSpPr>
        <p:spPr>
          <a:xfrm>
            <a:off x="1041400" y="2635250"/>
            <a:ext cx="4191000" cy="69850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Q-learning · deep Q-network · actor-critic · policy gradient · PPO</a:t>
            </a:r>
            <a:endParaRPr lang="en-US" sz="1500" dirty="0"/>
          </a:p>
        </p:txBody>
      </p:sp>
      <p:sp>
        <p:nvSpPr>
          <p:cNvPr id="8" name="Traffic signals box"/>
          <p:cNvSpPr/>
          <p:nvPr/>
        </p:nvSpPr>
        <p:spPr>
          <a:xfrm>
            <a:off x="6731000" y="1714500"/>
            <a:ext cx="4648200" cy="1841500"/>
          </a:xfrm>
          <a:prstGeom prst="roundRect">
            <a:avLst>
              <a:gd name="adj" fmla="val 5959"/>
            </a:avLst>
          </a:prstGeom>
          <a:solidFill>
            <a:schemeClr val="bg1"/>
          </a:solidFill>
          <a:ln w="12700">
            <a:solidFill>
              <a:srgbClr val="D5D3CD"/>
            </a:solidFill>
            <a:prstDash val="solid"/>
          </a:ln>
        </p:spPr>
      </p:sp>
      <p:sp>
        <p:nvSpPr>
          <p:cNvPr id="9" name="Traffic signals label"/>
          <p:cNvSpPr txBox="1"/>
          <p:nvPr/>
        </p:nvSpPr>
        <p:spPr>
          <a:xfrm>
            <a:off x="6959600" y="1930400"/>
            <a:ext cx="4191000" cy="215900"/>
          </a:xfrm>
          <a:prstGeom prst="rect">
            <a:avLst/>
          </a:prstGeom>
          <a:noFill/>
          <a:ln/>
        </p:spPr>
        <p:txBody>
          <a:bodyPr wrap="square" lIns="0" tIns="0" rIns="0" bIns="0" rtlCol="0" anchor="t"/>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CONCEPT B · APPLICATION</a:t>
            </a:r>
            <a:endParaRPr lang="en-US" sz="1200" dirty="0"/>
          </a:p>
        </p:txBody>
      </p:sp>
      <p:sp>
        <p:nvSpPr>
          <p:cNvPr id="10" name="Traffic signals title"/>
          <p:cNvSpPr txBox="1"/>
          <p:nvPr/>
        </p:nvSpPr>
        <p:spPr>
          <a:xfrm>
            <a:off x="6959600" y="2197100"/>
            <a:ext cx="4191000" cy="38100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Traffic signals</a:t>
            </a:r>
            <a:endParaRPr lang="en-US" sz="2200" dirty="0"/>
          </a:p>
        </p:txBody>
      </p:sp>
      <p:sp>
        <p:nvSpPr>
          <p:cNvPr id="11" name="Traffic signals terms"/>
          <p:cNvSpPr txBox="1"/>
          <p:nvPr/>
        </p:nvSpPr>
        <p:spPr>
          <a:xfrm>
            <a:off x="6959600" y="2635250"/>
            <a:ext cx="4191000" cy="69850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traffic light · signalized intersection · signal timing · signal phase</a:t>
            </a:r>
            <a:endParaRPr lang="en-US" sz="1500" dirty="0"/>
          </a:p>
        </p:txBody>
      </p:sp>
      <p:sp>
        <p:nvSpPr>
          <p:cNvPr id="12" name="AND"/>
          <p:cNvSpPr txBox="1"/>
          <p:nvPr/>
        </p:nvSpPr>
        <p:spPr>
          <a:xfrm>
            <a:off x="5461000" y="2349500"/>
            <a:ext cx="1270000" cy="571500"/>
          </a:xfrm>
          <a:prstGeom prst="rect">
            <a:avLst/>
          </a:prstGeom>
          <a:noFill/>
          <a:ln/>
        </p:spPr>
        <p:txBody>
          <a:bodyPr wrap="square" lIns="0" tIns="0" rIns="0" bIns="0" rtlCol="0" anchor="ctr"/>
          <a:lstStyle/>
          <a:p>
            <a:pPr algn="ctr" indent="0" marL="0">
              <a:buNone/>
            </a:pPr>
            <a:r>
              <a:rPr lang="en-US" sz="2800" dirty="0">
                <a:solidFill>
                  <a:schemeClr val="accent1"/>
                </a:solidFill>
                <a:latin typeface="Cambria" pitchFamily="34" charset="0"/>
                <a:ea typeface="Cambria" pitchFamily="34" charset="-122"/>
                <a:cs typeface="Cambria" pitchFamily="34" charset="-120"/>
              </a:rPr>
              <a:t>AND</a:t>
            </a:r>
            <a:endParaRPr lang="en-US" sz="2800" dirty="0"/>
          </a:p>
        </p:txBody>
      </p:sp>
      <p:sp>
        <p:nvSpPr>
          <p:cNvPr id="13" name="Stat 1 rule"/>
          <p:cNvSpPr/>
          <p:nvPr/>
        </p:nvSpPr>
        <p:spPr>
          <a:xfrm>
            <a:off x="812800" y="4000500"/>
            <a:ext cx="3352800" cy="0"/>
          </a:xfrm>
          <a:prstGeom prst="line">
            <a:avLst/>
          </a:prstGeom>
          <a:noFill/>
          <a:ln w="15875">
            <a:solidFill>
              <a:srgbClr val="2F2E2B"/>
            </a:solidFill>
            <a:prstDash val="solid"/>
          </a:ln>
        </p:spPr>
      </p:sp>
      <p:sp>
        <p:nvSpPr>
          <p:cNvPr id="14" name="Stat 1 value"/>
          <p:cNvSpPr txBox="1"/>
          <p:nvPr/>
        </p:nvSpPr>
        <p:spPr>
          <a:xfrm>
            <a:off x="812800" y="4114800"/>
            <a:ext cx="3352800" cy="508000"/>
          </a:xfrm>
          <a:prstGeom prst="rect">
            <a:avLst/>
          </a:prstGeom>
          <a:noFill/>
          <a:ln/>
        </p:spPr>
        <p:txBody>
          <a:bodyPr wrap="square" lIns="0" tIns="0" rIns="0" bIns="0" rtlCol="0" anchor="ctr"/>
          <a:lstStyle/>
          <a:p>
            <a:pPr indent="0" marL="0">
              <a:buNone/>
            </a:pPr>
            <a:r>
              <a:rPr lang="en-US" sz="3000" dirty="0">
                <a:solidFill>
                  <a:schemeClr val="tx1"/>
                </a:solidFill>
                <a:latin typeface="Cambria" pitchFamily="34" charset="0"/>
                <a:ea typeface="Cambria" pitchFamily="34" charset="-122"/>
                <a:cs typeface="Cambria" pitchFamily="34" charset="-120"/>
              </a:rPr>
              <a:t>3</a:t>
            </a:r>
            <a:endParaRPr lang="en-US" sz="3000" dirty="0"/>
          </a:p>
        </p:txBody>
      </p:sp>
      <p:sp>
        <p:nvSpPr>
          <p:cNvPr id="15" name="Stat 1 label"/>
          <p:cNvSpPr txBox="1"/>
          <p:nvPr/>
        </p:nvSpPr>
        <p:spPr>
          <a:xfrm>
            <a:off x="812800" y="4667250"/>
            <a:ext cx="3352800" cy="28575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databases searched</a:t>
            </a:r>
            <a:endParaRPr lang="en-US" sz="1400" dirty="0"/>
          </a:p>
        </p:txBody>
      </p:sp>
      <p:sp>
        <p:nvSpPr>
          <p:cNvPr id="16" name="Stat 2 rule"/>
          <p:cNvSpPr/>
          <p:nvPr/>
        </p:nvSpPr>
        <p:spPr>
          <a:xfrm>
            <a:off x="4419600" y="4000500"/>
            <a:ext cx="3352800" cy="0"/>
          </a:xfrm>
          <a:prstGeom prst="line">
            <a:avLst/>
          </a:prstGeom>
          <a:noFill/>
          <a:ln w="15875">
            <a:solidFill>
              <a:srgbClr val="2F2E2B"/>
            </a:solidFill>
            <a:prstDash val="solid"/>
          </a:ln>
        </p:spPr>
      </p:sp>
      <p:sp>
        <p:nvSpPr>
          <p:cNvPr id="17" name="Stat 2 value"/>
          <p:cNvSpPr txBox="1"/>
          <p:nvPr/>
        </p:nvSpPr>
        <p:spPr>
          <a:xfrm>
            <a:off x="4419600" y="4114800"/>
            <a:ext cx="3352800" cy="508000"/>
          </a:xfrm>
          <a:prstGeom prst="rect">
            <a:avLst/>
          </a:prstGeom>
          <a:noFill/>
          <a:ln/>
        </p:spPr>
        <p:txBody>
          <a:bodyPr wrap="square" lIns="0" tIns="0" rIns="0" bIns="0" rtlCol="0" anchor="ctr"/>
          <a:lstStyle/>
          <a:p>
            <a:pPr indent="0" marL="0">
              <a:buNone/>
            </a:pPr>
            <a:r>
              <a:rPr lang="en-US" sz="3000" dirty="0">
                <a:solidFill>
                  <a:schemeClr val="tx1"/>
                </a:solidFill>
                <a:latin typeface="Cambria" pitchFamily="34" charset="0"/>
                <a:ea typeface="Cambria" pitchFamily="34" charset="-122"/>
                <a:cs typeface="Cambria" pitchFamily="34" charset="-120"/>
              </a:rPr>
              <a:t>2019–2026</a:t>
            </a:r>
            <a:endParaRPr lang="en-US" sz="3000" dirty="0"/>
          </a:p>
        </p:txBody>
      </p:sp>
      <p:sp>
        <p:nvSpPr>
          <p:cNvPr id="18" name="Stat 2 label"/>
          <p:cNvSpPr txBox="1"/>
          <p:nvPr/>
        </p:nvSpPr>
        <p:spPr>
          <a:xfrm>
            <a:off x="4419600" y="4667250"/>
            <a:ext cx="3352800" cy="28575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publication window</a:t>
            </a:r>
            <a:endParaRPr lang="en-US" sz="1400" dirty="0"/>
          </a:p>
        </p:txBody>
      </p:sp>
      <p:sp>
        <p:nvSpPr>
          <p:cNvPr id="19" name="Stat 3 rule"/>
          <p:cNvSpPr/>
          <p:nvPr/>
        </p:nvSpPr>
        <p:spPr>
          <a:xfrm>
            <a:off x="8026400" y="4000500"/>
            <a:ext cx="3352800" cy="0"/>
          </a:xfrm>
          <a:prstGeom prst="line">
            <a:avLst/>
          </a:prstGeom>
          <a:noFill/>
          <a:ln w="15875">
            <a:solidFill>
              <a:srgbClr val="2F2E2B"/>
            </a:solidFill>
            <a:prstDash val="solid"/>
          </a:ln>
        </p:spPr>
      </p:sp>
      <p:sp>
        <p:nvSpPr>
          <p:cNvPr id="20" name="Stat 3 value"/>
          <p:cNvSpPr txBox="1"/>
          <p:nvPr/>
        </p:nvSpPr>
        <p:spPr>
          <a:xfrm>
            <a:off x="8026400" y="4114800"/>
            <a:ext cx="3352800" cy="508000"/>
          </a:xfrm>
          <a:prstGeom prst="rect">
            <a:avLst/>
          </a:prstGeom>
          <a:noFill/>
          <a:ln/>
        </p:spPr>
        <p:txBody>
          <a:bodyPr wrap="square" lIns="0" tIns="0" rIns="0" bIns="0" rtlCol="0" anchor="ctr"/>
          <a:lstStyle/>
          <a:p>
            <a:pPr indent="0" marL="0">
              <a:buNone/>
            </a:pPr>
            <a:r>
              <a:rPr lang="en-US" sz="3000" dirty="0">
                <a:solidFill>
                  <a:schemeClr val="tx1"/>
                </a:solidFill>
                <a:latin typeface="Cambria" pitchFamily="34" charset="0"/>
                <a:ea typeface="Cambria" pitchFamily="34" charset="-122"/>
                <a:cs typeface="Cambria" pitchFamily="34" charset="-120"/>
              </a:rPr>
              <a:t>20</a:t>
            </a:r>
            <a:endParaRPr lang="en-US" sz="3000" dirty="0"/>
          </a:p>
        </p:txBody>
      </p:sp>
      <p:sp>
        <p:nvSpPr>
          <p:cNvPr id="21" name="Stat 3 label"/>
          <p:cNvSpPr txBox="1"/>
          <p:nvPr/>
        </p:nvSpPr>
        <p:spPr>
          <a:xfrm>
            <a:off x="8026400" y="4667250"/>
            <a:ext cx="3352800" cy="28575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known papers the pilot must find</a:t>
            </a:r>
            <a:endParaRPr lang="en-US" sz="1400" dirty="0"/>
          </a:p>
        </p:txBody>
      </p:sp>
      <p:sp>
        <p:nvSpPr>
          <p:cNvPr id="25" name="Slide Number Placeholder 0"/>
          <p:cNvSpPr>
            <a:spLocks noGrp="1"/>
          </p:cNvSpPr>
          <p:nvPr>
            <p:ph type="sldNum" sz="quarter" idx="4294967295"/>
          </p:nvPr>
        </p:nvSpPr>
        <p:spPr>
          <a:xfrm>
            <a:off x="10744200" y="6286500"/>
            <a:ext cx="635000" cy="254000"/>
          </a:xfrm>
          <a:prstGeom prst="rect">
            <a:avLst/>
          </a:prstGeom>
          <a:extLst>
            <a:ext uri="{C572A759-6A51-4108-AA02-DFA0A04FC94B}">
              <ma14:wrappingTextBoxFlag xmlns:ma14="http://schemas.microsoft.com/office/mac/drawingml/2011/main" val="0"/>
            </a:ext>
          </a:extLst>
        </p:spPr>
        <p:txBody>
          <a:bodyPr/>
          <a:lstStyle>
            <a:lvl1pPr>
              <a:defRPr sz="1100">
                <a:solidFill>
                  <a:srgbClr val="6B6A64"/>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812800" y="698500"/>
            <a:ext cx="10566400" cy="698500"/>
          </a:xfrm>
          <a:prstGeom prst="rect">
            <a:avLst/>
          </a:prstGeom>
          <a:noFill/>
          <a:ln/>
        </p:spPr>
        <p:txBody>
          <a:bodyPr wrap="square" lIns="0" tIns="0" rIns="0" bIns="0" rtlCol="0" anchor="ctr"/>
          <a:lstStyle/>
          <a:p>
            <a:pPr algn="l" indent="0" marL="0">
              <a:buNone/>
            </a:pPr>
            <a:r>
              <a:rPr lang="en-US" sz="3600" dirty="0">
                <a:solidFill>
                  <a:schemeClr val="tx1"/>
                </a:solidFill>
                <a:latin typeface="Cambria" pitchFamily="34" charset="0"/>
                <a:ea typeface="Cambria" pitchFamily="34" charset="-122"/>
                <a:cs typeface="Cambria" pitchFamily="34" charset="-120"/>
              </a:rPr>
              <a:t>Our key idea: a validation realism scale</a:t>
            </a:r>
            <a:endParaRPr lang="en-US" sz="3600" dirty="0"/>
          </a:p>
        </p:txBody>
      </p:sp>
      <p:sp>
        <p:nvSpPr>
          <p:cNvPr id="4" name="VRL 0 step"/>
          <p:cNvSpPr/>
          <p:nvPr/>
        </p:nvSpPr>
        <p:spPr>
          <a:xfrm>
            <a:off x="812800" y="3111500"/>
            <a:ext cx="1676400" cy="1079500"/>
          </a:xfrm>
          <a:prstGeom prst="roundRect">
            <a:avLst>
              <a:gd name="adj" fmla="val 5082"/>
            </a:avLst>
          </a:prstGeom>
          <a:solidFill>
            <a:srgbClr val="E8E6E1"/>
          </a:solidFill>
          <a:ln/>
        </p:spPr>
      </p:sp>
      <p:sp>
        <p:nvSpPr>
          <p:cNvPr id="5" name="VRL 0 text"/>
          <p:cNvSpPr txBox="1"/>
          <p:nvPr/>
        </p:nvSpPr>
        <p:spPr>
          <a:xfrm>
            <a:off x="939800" y="3225800"/>
            <a:ext cx="1422400" cy="889000"/>
          </a:xfrm>
          <a:prstGeom prst="rect">
            <a:avLst/>
          </a:prstGeom>
          <a:noFill/>
          <a:ln/>
        </p:spPr>
        <p:txBody>
          <a:bodyPr wrap="square" lIns="0" tIns="0" rIns="0" bIns="0" rtlCol="0" anchor="t"/>
          <a:lstStyle/>
          <a:p>
            <a:pPr indent="0" marL="0">
              <a:spcAft>
                <a:spcPts val="400"/>
              </a:spcAft>
              <a:buNone/>
            </a:pPr>
            <a:r>
              <a:rPr lang="en-US" sz="1200" b="1" dirty="0">
                <a:solidFill>
                  <a:srgbClr val="5E7048"/>
                </a:solidFill>
                <a:latin typeface="Calibri" pitchFamily="34" charset="0"/>
                <a:ea typeface="Calibri" pitchFamily="34" charset="-122"/>
                <a:cs typeface="Calibri" pitchFamily="34" charset="-120"/>
              </a:rPr>
              <a:t>VRL 0</a:t>
            </a:r>
            <a:endParaRPr lang="en-US" sz="1400" dirty="0"/>
          </a:p>
          <a:p>
            <a:pPr indent="0" marL="0">
              <a:spcAft>
                <a:spcPts val="400"/>
              </a:spcAft>
              <a:buNone/>
            </a:pPr>
            <a:r>
              <a:rPr lang="en-US" sz="1400" dirty="0">
                <a:solidFill>
                  <a:srgbClr val="2F2E2B"/>
                </a:solidFill>
                <a:latin typeface="Calibri" pitchFamily="34" charset="0"/>
                <a:ea typeface="Calibri" pitchFamily="34" charset="-122"/>
                <a:cs typeface="Calibri" pitchFamily="34" charset="-120"/>
              </a:rPr>
              <a:t>Synthetic simulation</a:t>
            </a:r>
            <a:endParaRPr lang="en-US" sz="1400" dirty="0"/>
          </a:p>
        </p:txBody>
      </p:sp>
      <p:sp>
        <p:nvSpPr>
          <p:cNvPr id="6" name="VRL 1 step"/>
          <p:cNvSpPr/>
          <p:nvPr/>
        </p:nvSpPr>
        <p:spPr>
          <a:xfrm>
            <a:off x="2590800" y="2857500"/>
            <a:ext cx="1676400" cy="1333500"/>
          </a:xfrm>
          <a:prstGeom prst="roundRect">
            <a:avLst>
              <a:gd name="adj" fmla="val 4114"/>
            </a:avLst>
          </a:prstGeom>
          <a:solidFill>
            <a:srgbClr val="E8E6E1"/>
          </a:solidFill>
          <a:ln/>
        </p:spPr>
      </p:sp>
      <p:sp>
        <p:nvSpPr>
          <p:cNvPr id="7" name="VRL 1 text"/>
          <p:cNvSpPr txBox="1"/>
          <p:nvPr/>
        </p:nvSpPr>
        <p:spPr>
          <a:xfrm>
            <a:off x="2717800" y="2971800"/>
            <a:ext cx="1422400" cy="889000"/>
          </a:xfrm>
          <a:prstGeom prst="rect">
            <a:avLst/>
          </a:prstGeom>
          <a:noFill/>
          <a:ln/>
        </p:spPr>
        <p:txBody>
          <a:bodyPr wrap="square" lIns="0" tIns="0" rIns="0" bIns="0" rtlCol="0" anchor="t"/>
          <a:lstStyle/>
          <a:p>
            <a:pPr indent="0" marL="0">
              <a:spcAft>
                <a:spcPts val="400"/>
              </a:spcAft>
              <a:buNone/>
            </a:pPr>
            <a:r>
              <a:rPr lang="en-US" sz="1200" b="1" dirty="0">
                <a:solidFill>
                  <a:srgbClr val="5E7048"/>
                </a:solidFill>
                <a:latin typeface="Calibri" pitchFamily="34" charset="0"/>
                <a:ea typeface="Calibri" pitchFamily="34" charset="-122"/>
                <a:cs typeface="Calibri" pitchFamily="34" charset="-120"/>
              </a:rPr>
              <a:t>VRL 1</a:t>
            </a:r>
            <a:endParaRPr lang="en-US" sz="1400" dirty="0"/>
          </a:p>
          <a:p>
            <a:pPr indent="0" marL="0">
              <a:spcAft>
                <a:spcPts val="400"/>
              </a:spcAft>
              <a:buNone/>
            </a:pPr>
            <a:r>
              <a:rPr lang="en-US" sz="1400" dirty="0">
                <a:solidFill>
                  <a:srgbClr val="2F2E2B"/>
                </a:solidFill>
                <a:latin typeface="Calibri" pitchFamily="34" charset="0"/>
                <a:ea typeface="Calibri" pitchFamily="34" charset="-122"/>
                <a:cs typeface="Calibri" pitchFamily="34" charset="-120"/>
              </a:rPr>
              <a:t>Real road map, made-up traffic</a:t>
            </a:r>
            <a:endParaRPr lang="en-US" sz="1400" dirty="0"/>
          </a:p>
        </p:txBody>
      </p:sp>
      <p:sp>
        <p:nvSpPr>
          <p:cNvPr id="8" name="VRL 2 step"/>
          <p:cNvSpPr/>
          <p:nvPr/>
        </p:nvSpPr>
        <p:spPr>
          <a:xfrm>
            <a:off x="4368800" y="2603500"/>
            <a:ext cx="1676400" cy="1587500"/>
          </a:xfrm>
          <a:prstGeom prst="roundRect">
            <a:avLst>
              <a:gd name="adj" fmla="val 3456"/>
            </a:avLst>
          </a:prstGeom>
          <a:solidFill>
            <a:srgbClr val="E8E6E1"/>
          </a:solidFill>
          <a:ln/>
        </p:spPr>
      </p:sp>
      <p:sp>
        <p:nvSpPr>
          <p:cNvPr id="9" name="VRL 2 text"/>
          <p:cNvSpPr txBox="1"/>
          <p:nvPr/>
        </p:nvSpPr>
        <p:spPr>
          <a:xfrm>
            <a:off x="4495800" y="2717800"/>
            <a:ext cx="1422400" cy="889000"/>
          </a:xfrm>
          <a:prstGeom prst="rect">
            <a:avLst/>
          </a:prstGeom>
          <a:noFill/>
          <a:ln/>
        </p:spPr>
        <p:txBody>
          <a:bodyPr wrap="square" lIns="0" tIns="0" rIns="0" bIns="0" rtlCol="0" anchor="t"/>
          <a:lstStyle/>
          <a:p>
            <a:pPr indent="0" marL="0">
              <a:spcAft>
                <a:spcPts val="400"/>
              </a:spcAft>
              <a:buNone/>
            </a:pPr>
            <a:r>
              <a:rPr lang="en-US" sz="1200" b="1" dirty="0">
                <a:solidFill>
                  <a:srgbClr val="5E7048"/>
                </a:solidFill>
                <a:latin typeface="Calibri" pitchFamily="34" charset="0"/>
                <a:ea typeface="Calibri" pitchFamily="34" charset="-122"/>
                <a:cs typeface="Calibri" pitchFamily="34" charset="-120"/>
              </a:rPr>
              <a:t>VRL 2</a:t>
            </a:r>
            <a:endParaRPr lang="en-US" sz="1400" dirty="0"/>
          </a:p>
          <a:p>
            <a:pPr indent="0" marL="0">
              <a:spcAft>
                <a:spcPts val="400"/>
              </a:spcAft>
              <a:buNone/>
            </a:pPr>
            <a:r>
              <a:rPr lang="en-US" sz="1400" dirty="0">
                <a:solidFill>
                  <a:srgbClr val="2F2E2B"/>
                </a:solidFill>
                <a:latin typeface="Calibri" pitchFamily="34" charset="0"/>
                <a:ea typeface="Calibri" pitchFamily="34" charset="-122"/>
                <a:cs typeface="Calibri" pitchFamily="34" charset="-120"/>
              </a:rPr>
              <a:t>Simulation with real traffic data</a:t>
            </a:r>
            <a:endParaRPr lang="en-US" sz="1400" dirty="0"/>
          </a:p>
        </p:txBody>
      </p:sp>
      <p:sp>
        <p:nvSpPr>
          <p:cNvPr id="10" name="VRL 3 step"/>
          <p:cNvSpPr/>
          <p:nvPr/>
        </p:nvSpPr>
        <p:spPr>
          <a:xfrm>
            <a:off x="6146800" y="2349500"/>
            <a:ext cx="1676400" cy="1841500"/>
          </a:xfrm>
          <a:prstGeom prst="roundRect">
            <a:avLst>
              <a:gd name="adj" fmla="val 3273"/>
            </a:avLst>
          </a:prstGeom>
          <a:solidFill>
            <a:srgbClr val="D3DAC8"/>
          </a:solidFill>
          <a:ln/>
        </p:spPr>
      </p:sp>
      <p:sp>
        <p:nvSpPr>
          <p:cNvPr id="11" name="VRL 3 text"/>
          <p:cNvSpPr txBox="1"/>
          <p:nvPr/>
        </p:nvSpPr>
        <p:spPr>
          <a:xfrm>
            <a:off x="6273800" y="2463800"/>
            <a:ext cx="1422400" cy="889000"/>
          </a:xfrm>
          <a:prstGeom prst="rect">
            <a:avLst/>
          </a:prstGeom>
          <a:noFill/>
          <a:ln/>
        </p:spPr>
        <p:txBody>
          <a:bodyPr wrap="square" lIns="0" tIns="0" rIns="0" bIns="0" rtlCol="0" anchor="t"/>
          <a:lstStyle/>
          <a:p>
            <a:pPr indent="0" marL="0">
              <a:spcAft>
                <a:spcPts val="400"/>
              </a:spcAft>
              <a:buNone/>
            </a:pPr>
            <a:r>
              <a:rPr lang="en-US" sz="1200" b="1" dirty="0">
                <a:solidFill>
                  <a:srgbClr val="3F4D31"/>
                </a:solidFill>
                <a:latin typeface="Calibri" pitchFamily="34" charset="0"/>
                <a:ea typeface="Calibri" pitchFamily="34" charset="-122"/>
                <a:cs typeface="Calibri" pitchFamily="34" charset="-120"/>
              </a:rPr>
              <a:t>VRL 3</a:t>
            </a:r>
            <a:endParaRPr lang="en-US" sz="1400" dirty="0"/>
          </a:p>
          <a:p>
            <a:pPr indent="0" marL="0">
              <a:spcAft>
                <a:spcPts val="400"/>
              </a:spcAft>
              <a:buNone/>
            </a:pPr>
            <a:r>
              <a:rPr lang="en-US" sz="1400" dirty="0">
                <a:solidFill>
                  <a:srgbClr val="2F2E2B"/>
                </a:solidFill>
                <a:latin typeface="Calibri" pitchFamily="34" charset="0"/>
                <a:ea typeface="Calibri" pitchFamily="34" charset="-122"/>
                <a:cs typeface="Calibri" pitchFamily="34" charset="-120"/>
              </a:rPr>
              <a:t>Real hardware in the loop</a:t>
            </a:r>
            <a:endParaRPr lang="en-US" sz="1400" dirty="0"/>
          </a:p>
        </p:txBody>
      </p:sp>
      <p:sp>
        <p:nvSpPr>
          <p:cNvPr id="12" name="VRL 4 step"/>
          <p:cNvSpPr/>
          <p:nvPr/>
        </p:nvSpPr>
        <p:spPr>
          <a:xfrm>
            <a:off x="7924800" y="2095500"/>
            <a:ext cx="1676400" cy="2095500"/>
          </a:xfrm>
          <a:prstGeom prst="roundRect">
            <a:avLst>
              <a:gd name="adj" fmla="val 3273"/>
            </a:avLst>
          </a:prstGeom>
          <a:solidFill>
            <a:srgbClr val="5E7048"/>
          </a:solidFill>
          <a:ln/>
        </p:spPr>
      </p:sp>
      <p:sp>
        <p:nvSpPr>
          <p:cNvPr id="13" name="VRL 4 text"/>
          <p:cNvSpPr txBox="1"/>
          <p:nvPr/>
        </p:nvSpPr>
        <p:spPr>
          <a:xfrm>
            <a:off x="8051800" y="2209800"/>
            <a:ext cx="1422400" cy="889000"/>
          </a:xfrm>
          <a:prstGeom prst="rect">
            <a:avLst/>
          </a:prstGeom>
          <a:noFill/>
          <a:ln/>
        </p:spPr>
        <p:txBody>
          <a:bodyPr wrap="square" lIns="0" tIns="0" rIns="0" bIns="0" rtlCol="0" anchor="t"/>
          <a:lstStyle/>
          <a:p>
            <a:pPr indent="0" marL="0">
              <a:spcAft>
                <a:spcPts val="400"/>
              </a:spcAft>
              <a:buNone/>
            </a:pPr>
            <a:r>
              <a:rPr lang="en-US" sz="1200" b="1" dirty="0">
                <a:solidFill>
                  <a:srgbClr val="F8F7F4"/>
                </a:solidFill>
                <a:latin typeface="Calibri" pitchFamily="34" charset="0"/>
                <a:ea typeface="Calibri" pitchFamily="34" charset="-122"/>
                <a:cs typeface="Calibri" pitchFamily="34" charset="-120"/>
              </a:rPr>
              <a:t>VRL 4</a:t>
            </a:r>
            <a:endParaRPr lang="en-US" sz="1400" dirty="0"/>
          </a:p>
          <a:p>
            <a:pPr indent="0" marL="0">
              <a:spcAft>
                <a:spcPts val="400"/>
              </a:spcAft>
              <a:buNone/>
            </a:pPr>
            <a:r>
              <a:rPr lang="en-US" sz="1400" dirty="0">
                <a:solidFill>
                  <a:srgbClr val="F8F7F4"/>
                </a:solidFill>
                <a:latin typeface="Calibri" pitchFamily="34" charset="0"/>
                <a:ea typeface="Calibri" pitchFamily="34" charset="-122"/>
                <a:cs typeface="Calibri" pitchFamily="34" charset="-120"/>
              </a:rPr>
              <a:t>Field test at a real intersection</a:t>
            </a:r>
            <a:endParaRPr lang="en-US" sz="1400" dirty="0"/>
          </a:p>
        </p:txBody>
      </p:sp>
      <p:sp>
        <p:nvSpPr>
          <p:cNvPr id="14" name="VRL 5 step"/>
          <p:cNvSpPr/>
          <p:nvPr/>
        </p:nvSpPr>
        <p:spPr>
          <a:xfrm>
            <a:off x="9702800" y="1841500"/>
            <a:ext cx="1676400" cy="2349500"/>
          </a:xfrm>
          <a:prstGeom prst="roundRect">
            <a:avLst>
              <a:gd name="adj" fmla="val 3273"/>
            </a:avLst>
          </a:prstGeom>
          <a:solidFill>
            <a:srgbClr val="3F4D31"/>
          </a:solidFill>
          <a:ln/>
        </p:spPr>
      </p:sp>
      <p:sp>
        <p:nvSpPr>
          <p:cNvPr id="15" name="VRL 5 text"/>
          <p:cNvSpPr txBox="1"/>
          <p:nvPr/>
        </p:nvSpPr>
        <p:spPr>
          <a:xfrm>
            <a:off x="9829800" y="1955800"/>
            <a:ext cx="1422400" cy="889000"/>
          </a:xfrm>
          <a:prstGeom prst="rect">
            <a:avLst/>
          </a:prstGeom>
          <a:noFill/>
          <a:ln/>
        </p:spPr>
        <p:txBody>
          <a:bodyPr wrap="square" lIns="0" tIns="0" rIns="0" bIns="0" rtlCol="0" anchor="t"/>
          <a:lstStyle/>
          <a:p>
            <a:pPr indent="0" marL="0">
              <a:spcAft>
                <a:spcPts val="400"/>
              </a:spcAft>
              <a:buNone/>
            </a:pPr>
            <a:r>
              <a:rPr lang="en-US" sz="1200" b="1" dirty="0">
                <a:solidFill>
                  <a:srgbClr val="F8F7F4"/>
                </a:solidFill>
                <a:latin typeface="Calibri" pitchFamily="34" charset="0"/>
                <a:ea typeface="Calibri" pitchFamily="34" charset="-122"/>
                <a:cs typeface="Calibri" pitchFamily="34" charset="-120"/>
              </a:rPr>
              <a:t>VRL 5</a:t>
            </a:r>
            <a:endParaRPr lang="en-US" sz="1400" dirty="0"/>
          </a:p>
          <a:p>
            <a:pPr indent="0" marL="0">
              <a:spcAft>
                <a:spcPts val="400"/>
              </a:spcAft>
              <a:buNone/>
            </a:pPr>
            <a:r>
              <a:rPr lang="en-US" sz="1400" dirty="0">
                <a:solidFill>
                  <a:srgbClr val="F8F7F4"/>
                </a:solidFill>
                <a:latin typeface="Calibri" pitchFamily="34" charset="0"/>
                <a:ea typeface="Calibri" pitchFamily="34" charset="-122"/>
                <a:cs typeface="Calibri" pitchFamily="34" charset="-120"/>
              </a:rPr>
              <a:t>Sustained city deployment</a:t>
            </a:r>
            <a:endParaRPr lang="en-US" sz="1400" dirty="0"/>
          </a:p>
        </p:txBody>
      </p:sp>
      <p:sp>
        <p:nvSpPr>
          <p:cNvPr id="16" name="Question"/>
          <p:cNvSpPr txBox="1"/>
          <p:nvPr/>
        </p:nvSpPr>
        <p:spPr>
          <a:xfrm>
            <a:off x="812800" y="4445000"/>
            <a:ext cx="9207500" cy="730250"/>
          </a:xfrm>
          <a:prstGeom prst="rect">
            <a:avLst/>
          </a:prstGeom>
          <a:noFill/>
          <a:ln/>
        </p:spPr>
        <p:txBody>
          <a:bodyPr wrap="square" lIns="0" tIns="0" rIns="0" bIns="0" rtlCol="0" anchor="ctr"/>
          <a:lstStyle/>
          <a:p>
            <a:pPr indent="0" marL="0">
              <a:lnSpc>
                <a:spcPct val="110000"/>
              </a:lnSpc>
              <a:buNone/>
            </a:pPr>
            <a:r>
              <a:rPr lang="en-US" sz="1800" dirty="0">
                <a:solidFill>
                  <a:schemeClr val="tx1"/>
                </a:solidFill>
                <a:latin typeface="Calibri" pitchFamily="34" charset="0"/>
                <a:ea typeface="Calibri" pitchFamily="34" charset="-122"/>
                <a:cs typeface="Calibri" pitchFamily="34" charset="-120"/>
              </a:rPr>
              <a:t>Every study gets the highest level it reaches. Then we ask: </a:t>
            </a:r>
            <a:pPr indent="0" marL="0">
              <a:lnSpc>
                <a:spcPct val="110000"/>
              </a:lnSpc>
              <a:buNone/>
            </a:pPr>
            <a:r>
              <a:rPr lang="en-US" sz="1800" b="1" dirty="0">
                <a:solidFill>
                  <a:schemeClr val="tx1"/>
                </a:solidFill>
                <a:latin typeface="Calibri" pitchFamily="34" charset="0"/>
                <a:ea typeface="Calibri" pitchFamily="34" charset="-122"/>
                <a:cs typeface="Calibri" pitchFamily="34" charset="-120"/>
              </a:rPr>
              <a:t>do the reported gains shrink as tests get more real?</a:t>
            </a:r>
            <a:endParaRPr lang="en-US" sz="1800" dirty="0"/>
          </a:p>
        </p:txBody>
      </p:sp>
      <p:sp>
        <p:nvSpPr>
          <p:cNvPr id="25" name="Slide Number Placeholder 0"/>
          <p:cNvSpPr>
            <a:spLocks noGrp="1"/>
          </p:cNvSpPr>
          <p:nvPr>
            <p:ph type="sldNum" sz="quarter" idx="4294967295"/>
          </p:nvPr>
        </p:nvSpPr>
        <p:spPr>
          <a:xfrm>
            <a:off x="10744200" y="6286500"/>
            <a:ext cx="635000" cy="254000"/>
          </a:xfrm>
          <a:prstGeom prst="rect">
            <a:avLst/>
          </a:prstGeom>
          <a:extLst>
            <a:ext uri="{C572A759-6A51-4108-AA02-DFA0A04FC94B}">
              <ma14:wrappingTextBoxFlag xmlns:ma14="http://schemas.microsoft.com/office/mac/drawingml/2011/main" val="0"/>
            </a:ext>
          </a:extLst>
        </p:spPr>
        <p:txBody>
          <a:bodyPr/>
          <a:lstStyle>
            <a:lvl1pPr>
              <a:defRPr sz="1100">
                <a:solidFill>
                  <a:srgbClr val="6B6A6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812800" y="698500"/>
            <a:ext cx="10566400" cy="698500"/>
          </a:xfrm>
          <a:prstGeom prst="rect">
            <a:avLst/>
          </a:prstGeom>
          <a:noFill/>
          <a:ln/>
        </p:spPr>
        <p:txBody>
          <a:bodyPr wrap="square" lIns="0" tIns="0" rIns="0" bIns="0" rtlCol="0" anchor="ctr"/>
          <a:lstStyle/>
          <a:p>
            <a:pPr algn="l" indent="0" marL="0">
              <a:buNone/>
            </a:pPr>
            <a:r>
              <a:rPr lang="en-US" sz="3600" dirty="0">
                <a:solidFill>
                  <a:schemeClr val="tx1"/>
                </a:solidFill>
                <a:latin typeface="Cambria" pitchFamily="34" charset="0"/>
                <a:ea typeface="Cambria" pitchFamily="34" charset="-122"/>
                <a:cs typeface="Cambria" pitchFamily="34" charset="-120"/>
              </a:rPr>
              <a:t>What the scoping search already shows</a:t>
            </a:r>
            <a:endParaRPr lang="en-US" sz="3600" dirty="0"/>
          </a:p>
        </p:txBody>
      </p:sp>
      <p:sp>
        <p:nvSpPr>
          <p:cNvPr id="4" name="Simulators dominate rule"/>
          <p:cNvSpPr/>
          <p:nvPr/>
        </p:nvSpPr>
        <p:spPr>
          <a:xfrm>
            <a:off x="812800" y="1778000"/>
            <a:ext cx="5105400" cy="0"/>
          </a:xfrm>
          <a:prstGeom prst="line">
            <a:avLst/>
          </a:prstGeom>
          <a:noFill/>
          <a:ln w="15875">
            <a:solidFill>
              <a:srgbClr val="2F2E2B"/>
            </a:solidFill>
            <a:prstDash val="solid"/>
          </a:ln>
        </p:spPr>
      </p:sp>
      <p:sp>
        <p:nvSpPr>
          <p:cNvPr id="5" name="Simulators dominate title"/>
          <p:cNvSpPr txBox="1"/>
          <p:nvPr/>
        </p:nvSpPr>
        <p:spPr>
          <a:xfrm>
            <a:off x="812800" y="1917700"/>
            <a:ext cx="5105400" cy="38100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Simulators dominate</a:t>
            </a:r>
            <a:endParaRPr lang="en-US" sz="2200" dirty="0"/>
          </a:p>
        </p:txBody>
      </p:sp>
      <p:sp>
        <p:nvSpPr>
          <p:cNvPr id="6" name="Simulators dominate text"/>
          <p:cNvSpPr txBox="1"/>
          <p:nvPr/>
        </p:nvSpPr>
        <p:spPr>
          <a:xfrm>
            <a:off x="812800" y="2349500"/>
            <a:ext cx="4724400" cy="57150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SUMO and CityFlow are the main test platforms in recent reviews</a:t>
            </a:r>
            <a:endParaRPr lang="en-US" sz="1500" dirty="0"/>
          </a:p>
        </p:txBody>
      </p:sp>
      <p:sp>
        <p:nvSpPr>
          <p:cNvPr id="7" name="Field tests are rare rule"/>
          <p:cNvSpPr/>
          <p:nvPr/>
        </p:nvSpPr>
        <p:spPr>
          <a:xfrm>
            <a:off x="6273800" y="1778000"/>
            <a:ext cx="5105400" cy="0"/>
          </a:xfrm>
          <a:prstGeom prst="line">
            <a:avLst/>
          </a:prstGeom>
          <a:noFill/>
          <a:ln w="15875">
            <a:solidFill>
              <a:srgbClr val="2F2E2B"/>
            </a:solidFill>
            <a:prstDash val="solid"/>
          </a:ln>
        </p:spPr>
      </p:sp>
      <p:sp>
        <p:nvSpPr>
          <p:cNvPr id="8" name="Field tests are rare title"/>
          <p:cNvSpPr txBox="1"/>
          <p:nvPr/>
        </p:nvSpPr>
        <p:spPr>
          <a:xfrm>
            <a:off x="6273800" y="1917700"/>
            <a:ext cx="5105400" cy="38100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Field tests are rare</a:t>
            </a:r>
            <a:endParaRPr lang="en-US" sz="2200" dirty="0"/>
          </a:p>
        </p:txBody>
      </p:sp>
      <p:sp>
        <p:nvSpPr>
          <p:cNvPr id="9" name="Field tests are rare text"/>
          <p:cNvSpPr txBox="1"/>
          <p:nvPr/>
        </p:nvSpPr>
        <p:spPr>
          <a:xfrm>
            <a:off x="6273800" y="2349500"/>
            <a:ext cx="4724400" cy="57150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Deployment-focused papers from 2021–2022 report almost no live RL signals</a:t>
            </a:r>
            <a:endParaRPr lang="en-US" sz="1500" dirty="0"/>
          </a:p>
        </p:txBody>
      </p:sp>
      <p:sp>
        <p:nvSpPr>
          <p:cNvPr id="10" name="The last SLR stops in 2020 rule"/>
          <p:cNvSpPr/>
          <p:nvPr/>
        </p:nvSpPr>
        <p:spPr>
          <a:xfrm>
            <a:off x="812800" y="3365500"/>
            <a:ext cx="5105400" cy="0"/>
          </a:xfrm>
          <a:prstGeom prst="line">
            <a:avLst/>
          </a:prstGeom>
          <a:noFill/>
          <a:ln w="15875">
            <a:solidFill>
              <a:srgbClr val="2F2E2B"/>
            </a:solidFill>
            <a:prstDash val="solid"/>
          </a:ln>
        </p:spPr>
      </p:sp>
      <p:sp>
        <p:nvSpPr>
          <p:cNvPr id="11" name="The last SLR stops in 2020 title"/>
          <p:cNvSpPr txBox="1"/>
          <p:nvPr/>
        </p:nvSpPr>
        <p:spPr>
          <a:xfrm>
            <a:off x="812800" y="3505200"/>
            <a:ext cx="5105400" cy="38100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The last SLR stops in 2020</a:t>
            </a:r>
            <a:endParaRPr lang="en-US" sz="2200" dirty="0"/>
          </a:p>
        </p:txBody>
      </p:sp>
      <p:sp>
        <p:nvSpPr>
          <p:cNvPr id="12" name="The last SLR stops in 2020 text"/>
          <p:cNvSpPr txBox="1"/>
          <p:nvPr/>
        </p:nvSpPr>
        <p:spPr>
          <a:xfrm>
            <a:off x="812800" y="3937000"/>
            <a:ext cx="4724400" cy="57150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Noaeen et al. (2022) reviewed 160 papers up to March 2020</a:t>
            </a:r>
            <a:endParaRPr lang="en-US" sz="1500" dirty="0"/>
          </a:p>
        </p:txBody>
      </p:sp>
      <p:sp>
        <p:nvSpPr>
          <p:cNvPr id="13" name="Same data, many papers rule"/>
          <p:cNvSpPr/>
          <p:nvPr/>
        </p:nvSpPr>
        <p:spPr>
          <a:xfrm>
            <a:off x="6273800" y="3365500"/>
            <a:ext cx="5105400" cy="0"/>
          </a:xfrm>
          <a:prstGeom prst="line">
            <a:avLst/>
          </a:prstGeom>
          <a:noFill/>
          <a:ln w="15875">
            <a:solidFill>
              <a:srgbClr val="2F2E2B"/>
            </a:solidFill>
            <a:prstDash val="solid"/>
          </a:ln>
        </p:spPr>
      </p:sp>
      <p:sp>
        <p:nvSpPr>
          <p:cNvPr id="14" name="Same data, many papers title"/>
          <p:cNvSpPr txBox="1"/>
          <p:nvPr/>
        </p:nvSpPr>
        <p:spPr>
          <a:xfrm>
            <a:off x="6273800" y="3505200"/>
            <a:ext cx="5105400" cy="381000"/>
          </a:xfrm>
          <a:prstGeom prst="rect">
            <a:avLst/>
          </a:prstGeom>
          <a:noFill/>
          <a:ln/>
        </p:spPr>
        <p:txBody>
          <a:bodyPr wrap="square" lIns="0" tIns="0" rIns="0" bIns="0" rtlCol="0" anchor="t"/>
          <a:lstStyle/>
          <a:p>
            <a:pPr indent="0" marL="0">
              <a:buNone/>
            </a:pPr>
            <a:r>
              <a:rPr lang="en-US" sz="2200" dirty="0">
                <a:solidFill>
                  <a:schemeClr val="tx1"/>
                </a:solidFill>
                <a:latin typeface="Cambria" pitchFamily="34" charset="0"/>
                <a:ea typeface="Cambria" pitchFamily="34" charset="-122"/>
                <a:cs typeface="Cambria" pitchFamily="34" charset="-120"/>
              </a:rPr>
              <a:t>Same data, many papers</a:t>
            </a:r>
            <a:endParaRPr lang="en-US" sz="2200" dirty="0"/>
          </a:p>
        </p:txBody>
      </p:sp>
      <p:sp>
        <p:nvSpPr>
          <p:cNvPr id="15" name="Same data, many papers text"/>
          <p:cNvSpPr txBox="1"/>
          <p:nvPr/>
        </p:nvSpPr>
        <p:spPr>
          <a:xfrm>
            <a:off x="6273800" y="3937000"/>
            <a:ext cx="4724400" cy="57150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Jinan, Hangzhou and New York datasets are reused again and again</a:t>
            </a:r>
            <a:endParaRPr lang="en-US" sz="1500" dirty="0"/>
          </a:p>
        </p:txBody>
      </p:sp>
      <p:sp>
        <p:nvSpPr>
          <p:cNvPr id="16" name="Scoping note"/>
          <p:cNvSpPr txBox="1"/>
          <p:nvPr/>
        </p:nvSpPr>
        <p:spPr>
          <a:xfrm>
            <a:off x="812800" y="6286500"/>
            <a:ext cx="9207500" cy="25400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Exploratory scoping search only: it shaped our design and is not counted as review evidence.</a:t>
            </a:r>
            <a:endParaRPr lang="en-US" sz="1200" dirty="0"/>
          </a:p>
        </p:txBody>
      </p:sp>
      <p:sp>
        <p:nvSpPr>
          <p:cNvPr id="25" name="Slide Number Placeholder 0"/>
          <p:cNvSpPr>
            <a:spLocks noGrp="1"/>
          </p:cNvSpPr>
          <p:nvPr>
            <p:ph type="sldNum" sz="quarter" idx="4294967295"/>
          </p:nvPr>
        </p:nvSpPr>
        <p:spPr>
          <a:xfrm>
            <a:off x="10744200" y="6286500"/>
            <a:ext cx="635000" cy="254000"/>
          </a:xfrm>
          <a:prstGeom prst="rect">
            <a:avLst/>
          </a:prstGeom>
          <a:extLst>
            <a:ext uri="{C572A759-6A51-4108-AA02-DFA0A04FC94B}">
              <ma14:wrappingTextBoxFlag xmlns:ma14="http://schemas.microsoft.com/office/mac/drawingml/2011/main" val="0"/>
            </a:ext>
          </a:extLst>
        </p:spPr>
        <p:txBody>
          <a:bodyPr/>
          <a:lstStyle>
            <a:lvl1pPr>
              <a:defRPr sz="1100">
                <a:solidFill>
                  <a:srgbClr val="6B6A64"/>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812800" y="698500"/>
            <a:ext cx="10566400" cy="698500"/>
          </a:xfrm>
          <a:prstGeom prst="rect">
            <a:avLst/>
          </a:prstGeom>
          <a:noFill/>
          <a:ln/>
        </p:spPr>
        <p:txBody>
          <a:bodyPr wrap="square" lIns="0" tIns="0" rIns="0" bIns="0" rtlCol="0" anchor="ctr"/>
          <a:lstStyle/>
          <a:p>
            <a:pPr algn="l" indent="0" marL="0">
              <a:buNone/>
            </a:pPr>
            <a:r>
              <a:rPr lang="en-US" sz="3600" dirty="0">
                <a:solidFill>
                  <a:schemeClr val="tx1"/>
                </a:solidFill>
                <a:latin typeface="Cambria" pitchFamily="34" charset="0"/>
                <a:ea typeface="Cambria" pitchFamily="34" charset="-122"/>
                <a:cs typeface="Cambria" pitchFamily="34" charset="-120"/>
              </a:rPr>
              <a:t>Early evidence: what published studies report</a:t>
            </a:r>
            <a:endParaRPr lang="en-US" sz="3600" dirty="0"/>
          </a:p>
        </p:txBody>
      </p:sp>
      <p:graphicFrame>
        <p:nvGraphicFramePr>
          <p:cNvPr id="10" name="Early evidence"/>
          <p:cNvGraphicFramePr>
            <a:graphicFrameLocks noGrp="1"/>
          </p:cNvGraphicFramePr>
          <p:nvPr>
            <p:extLst>
              <p:ext uri="{D42A27DB-BD31-4B8C-83A1-F6EECF244321}">
                <p14:modId xmlns:p14="http://schemas.microsoft.com/office/powerpoint/2010/main" val="1579011935"/>
              </p:ext>
            </p:extLst>
          </p:nvPr>
        </p:nvGraphicFramePr>
        <p:xfrm>
          <a:off x="812800" y="1619250"/>
          <a:ext cx="10566400" cy="914400"/>
        </p:xfrm>
        <a:graphic>
          <a:graphicData uri="http://schemas.openxmlformats.org/drawingml/2006/table">
            <a:tbl>
              <a:tblPr/>
              <a:tblGrid>
                <a:gridCol w="2852928"/>
                <a:gridCol w="2852928"/>
                <a:gridCol w="1584960"/>
                <a:gridCol w="3275584"/>
              </a:tblGrid>
              <a:tr h="495300">
                <a:tc>
                  <a:txBody>
                    <a:bodyPr/>
                    <a:lstStyle/>
                    <a:p>
                      <a:pPr algn="l" indent="0" marL="0">
                        <a:buNone/>
                      </a:pPr>
                      <a:r>
                        <a:rPr lang="en-US" sz="1300" b="1" dirty="0">
                          <a:solidFill>
                            <a:srgbClr val="2F2E2B"/>
                          </a:solidFill>
                          <a:latin typeface="Calibri" pitchFamily="34" charset="0"/>
                          <a:ea typeface="Calibri" pitchFamily="34" charset="-122"/>
                          <a:cs typeface="Calibri" pitchFamily="34" charset="-120"/>
                        </a:rPr>
                        <a:t>Study</a:t>
                      </a:r>
                      <a:endParaRPr lang="en-US" sz="13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solidFill>
                      <a:srgbClr val="E8E6E1"/>
                    </a:solidFill>
                  </a:tcPr>
                </a:tc>
                <a:tc>
                  <a:txBody>
                    <a:bodyPr/>
                    <a:lstStyle/>
                    <a:p>
                      <a:pPr algn="l" indent="0" marL="0">
                        <a:buNone/>
                      </a:pPr>
                      <a:r>
                        <a:rPr lang="en-US" sz="1300" b="1" dirty="0">
                          <a:solidFill>
                            <a:srgbClr val="2F2E2B"/>
                          </a:solidFill>
                          <a:latin typeface="Calibri" pitchFamily="34" charset="0"/>
                          <a:ea typeface="Calibri" pitchFamily="34" charset="-122"/>
                          <a:cs typeface="Calibri" pitchFamily="34" charset="-120"/>
                        </a:rPr>
                        <a:t>How it was tested</a:t>
                      </a:r>
                      <a:endParaRPr lang="en-US" sz="13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solidFill>
                      <a:srgbClr val="E8E6E1"/>
                    </a:solidFill>
                  </a:tcPr>
                </a:tc>
                <a:tc>
                  <a:txBody>
                    <a:bodyPr/>
                    <a:lstStyle/>
                    <a:p>
                      <a:pPr algn="l" indent="0" marL="0">
                        <a:buNone/>
                      </a:pPr>
                      <a:r>
                        <a:rPr lang="en-US" sz="1300" b="1" dirty="0">
                          <a:solidFill>
                            <a:srgbClr val="2F2E2B"/>
                          </a:solidFill>
                          <a:latin typeface="Calibri" pitchFamily="34" charset="0"/>
                          <a:ea typeface="Calibri" pitchFamily="34" charset="-122"/>
                          <a:cs typeface="Calibri" pitchFamily="34" charset="-120"/>
                        </a:rPr>
                        <a:t>Compared with</a:t>
                      </a:r>
                      <a:endParaRPr lang="en-US" sz="13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solidFill>
                      <a:srgbClr val="E8E6E1"/>
                    </a:solidFill>
                  </a:tcPr>
                </a:tc>
                <a:tc>
                  <a:txBody>
                    <a:bodyPr/>
                    <a:lstStyle/>
                    <a:p>
                      <a:pPr algn="l" indent="0" marL="0">
                        <a:buNone/>
                      </a:pPr>
                      <a:r>
                        <a:rPr lang="en-US" sz="1300" b="1" dirty="0">
                          <a:solidFill>
                            <a:srgbClr val="2F2E2B"/>
                          </a:solidFill>
                          <a:latin typeface="Calibri" pitchFamily="34" charset="0"/>
                          <a:ea typeface="Calibri" pitchFamily="34" charset="-122"/>
                          <a:cs typeface="Calibri" pitchFamily="34" charset="-120"/>
                        </a:rPr>
                        <a:t>Reported result</a:t>
                      </a:r>
                      <a:endParaRPr lang="en-US" sz="13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solidFill>
                      <a:srgbClr val="E8E6E1"/>
                    </a:solidFill>
                  </a:tcPr>
                </a:tc>
              </a:tr>
              <a:tr h="495300">
                <a:tc>
                  <a:txBody>
                    <a:bodyPr/>
                    <a:lstStyle/>
                    <a:p>
                      <a:pPr indent="0" marL="0">
                        <a:buNone/>
                      </a:pPr>
                      <a:r>
                        <a:rPr lang="en-US" sz="1300" dirty="0">
                          <a:solidFill>
                            <a:srgbClr val="2F2E2B"/>
                          </a:solidFill>
                          <a:latin typeface="Calibri" pitchFamily="34" charset="0"/>
                          <a:ea typeface="Calibri" pitchFamily="34" charset="-122"/>
                          <a:cs typeface="Calibri" pitchFamily="34" charset="-120"/>
                        </a:rPr>
                        <a:t>CoLight (2019), re-run in a 2024 benchmark</a:t>
                      </a:r>
                      <a:endParaRPr lang="en-US" sz="13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300" dirty="0">
                          <a:solidFill>
                            <a:srgbClr val="2F2E2B"/>
                          </a:solidFill>
                          <a:latin typeface="Calibri" pitchFamily="34" charset="0"/>
                          <a:ea typeface="Calibri" pitchFamily="34" charset="-122"/>
                          <a:cs typeface="Calibri" pitchFamily="34" charset="-120"/>
                        </a:rPr>
                        <a:t>Simulation, real Hangzhou and Jinan data</a:t>
                      </a:r>
                      <a:endParaRPr lang="en-US" sz="13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300" dirty="0">
                          <a:solidFill>
                            <a:srgbClr val="2F2E2B"/>
                          </a:solidFill>
                          <a:latin typeface="Calibri" pitchFamily="34" charset="0"/>
                          <a:ea typeface="Calibri" pitchFamily="34" charset="-122"/>
                          <a:cs typeface="Calibri" pitchFamily="34" charset="-120"/>
                        </a:rPr>
                        <a:t>Fixed-time plan</a:t>
                      </a:r>
                      <a:endParaRPr lang="en-US" sz="13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300" dirty="0">
                          <a:solidFill>
                            <a:srgbClr val="2F2E2B"/>
                          </a:solidFill>
                          <a:latin typeface="Calibri" pitchFamily="34" charset="0"/>
                          <a:ea typeface="Calibri" pitchFamily="34" charset="-122"/>
                          <a:cs typeface="Calibri" pitchFamily="34" charset="-120"/>
                        </a:rPr>
                        <a:t>Travel time 302 s vs 718 s and 310 s vs 814 s (−58 %, −62 %)</a:t>
                      </a:r>
                      <a:endParaRPr lang="en-US" sz="13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r>
              <a:tr h="495300">
                <a:tc>
                  <a:txBody>
                    <a:bodyPr/>
                    <a:lstStyle/>
                    <a:p>
                      <a:pPr indent="0" marL="0">
                        <a:buNone/>
                      </a:pPr>
                      <a:r>
                        <a:rPr lang="en-US" sz="1300" dirty="0">
                          <a:solidFill>
                            <a:srgbClr val="2F2E2B"/>
                          </a:solidFill>
                          <a:latin typeface="Calibri" pitchFamily="34" charset="0"/>
                          <a:ea typeface="Calibri" pitchFamily="34" charset="-122"/>
                          <a:cs typeface="Calibri" pitchFamily="34" charset="-120"/>
                        </a:rPr>
                        <a:t>CoLight, re-run in another 2024 paper</a:t>
                      </a:r>
                      <a:endParaRPr lang="en-US" sz="13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300" dirty="0">
                          <a:solidFill>
                            <a:srgbClr val="2F2E2B"/>
                          </a:solidFill>
                          <a:latin typeface="Calibri" pitchFamily="34" charset="0"/>
                          <a:ea typeface="Calibri" pitchFamily="34" charset="-122"/>
                          <a:cs typeface="Calibri" pitchFamily="34" charset="-120"/>
                        </a:rPr>
                        <a:t>Same Hangzhou data</a:t>
                      </a:r>
                      <a:endParaRPr lang="en-US" sz="13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300" dirty="0">
                          <a:solidFill>
                            <a:srgbClr val="2F2E2B"/>
                          </a:solidFill>
                          <a:latin typeface="Calibri" pitchFamily="34" charset="0"/>
                          <a:ea typeface="Calibri" pitchFamily="34" charset="-122"/>
                          <a:cs typeface="Calibri" pitchFamily="34" charset="-120"/>
                        </a:rPr>
                        <a:t>Itself</a:t>
                      </a:r>
                      <a:endParaRPr lang="en-US" sz="13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300" dirty="0">
                          <a:solidFill>
                            <a:srgbClr val="2F2E2B"/>
                          </a:solidFill>
                          <a:latin typeface="Calibri" pitchFamily="34" charset="0"/>
                          <a:ea typeface="Calibri" pitchFamily="34" charset="-122"/>
                          <a:cs typeface="Calibri" pitchFamily="34" charset="-120"/>
                        </a:rPr>
                        <a:t>348 s instead of 302 s: 15 % apart for the same method</a:t>
                      </a:r>
                      <a:endParaRPr lang="en-US" sz="13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r>
              <a:tr h="495300">
                <a:tc>
                  <a:txBody>
                    <a:bodyPr/>
                    <a:lstStyle/>
                    <a:p>
                      <a:pPr indent="0" marL="0">
                        <a:buNone/>
                      </a:pPr>
                      <a:r>
                        <a:rPr lang="en-US" sz="1300" dirty="0">
                          <a:solidFill>
                            <a:srgbClr val="2F2E2B"/>
                          </a:solidFill>
                          <a:latin typeface="Calibri" pitchFamily="34" charset="0"/>
                          <a:ea typeface="Calibri" pitchFamily="34" charset="-122"/>
                          <a:cs typeface="Calibri" pitchFamily="34" charset="-120"/>
                        </a:rPr>
                        <a:t>Pan (2023), deep Q-learning, preprint</a:t>
                      </a:r>
                      <a:endParaRPr lang="en-US" sz="13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300" dirty="0">
                          <a:solidFill>
                            <a:srgbClr val="2F2E2B"/>
                          </a:solidFill>
                          <a:latin typeface="Calibri" pitchFamily="34" charset="0"/>
                          <a:ea typeface="Calibri" pitchFamily="34" charset="-122"/>
                          <a:cs typeface="Calibri" pitchFamily="34" charset="-120"/>
                        </a:rPr>
                        <a:t>Real Hangzhou intersection data</a:t>
                      </a:r>
                      <a:endParaRPr lang="en-US" sz="13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300" dirty="0">
                          <a:solidFill>
                            <a:srgbClr val="2F2E2B"/>
                          </a:solidFill>
                          <a:latin typeface="Calibri" pitchFamily="34" charset="0"/>
                          <a:ea typeface="Calibri" pitchFamily="34" charset="-122"/>
                          <a:cs typeface="Calibri" pitchFamily="34" charset="-120"/>
                        </a:rPr>
                        <a:t>Fixed plans</a:t>
                      </a:r>
                      <a:endParaRPr lang="en-US" sz="13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300" dirty="0">
                          <a:solidFill>
                            <a:srgbClr val="2F2E2B"/>
                          </a:solidFill>
                          <a:latin typeface="Calibri" pitchFamily="34" charset="0"/>
                          <a:ea typeface="Calibri" pitchFamily="34" charset="-122"/>
                          <a:cs typeface="Calibri" pitchFamily="34" charset="-120"/>
                        </a:rPr>
                        <a:t>Travel time −17 % to −68 %</a:t>
                      </a:r>
                      <a:endParaRPr lang="en-US" sz="13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r>
              <a:tr h="495300">
                <a:tc>
                  <a:txBody>
                    <a:bodyPr/>
                    <a:lstStyle/>
                    <a:p>
                      <a:pPr indent="0" marL="0">
                        <a:buNone/>
                      </a:pPr>
                      <a:r>
                        <a:rPr lang="en-US" sz="1300" dirty="0">
                          <a:solidFill>
                            <a:srgbClr val="2F2E2B"/>
                          </a:solidFill>
                          <a:latin typeface="Calibri" pitchFamily="34" charset="0"/>
                          <a:ea typeface="Calibri" pitchFamily="34" charset="-122"/>
                          <a:cs typeface="Calibri" pitchFamily="34" charset="-120"/>
                        </a:rPr>
                        <a:t>Tahir et al. (2026), DQN with crash risk</a:t>
                      </a:r>
                      <a:endParaRPr lang="en-US" sz="13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300" dirty="0">
                          <a:solidFill>
                            <a:srgbClr val="2F2E2B"/>
                          </a:solidFill>
                          <a:latin typeface="Calibri" pitchFamily="34" charset="0"/>
                          <a:ea typeface="Calibri" pitchFamily="34" charset="-122"/>
                          <a:cs typeface="Calibri" pitchFamily="34" charset="-120"/>
                        </a:rPr>
                        <a:t>Two real Queensland intersections, simulated</a:t>
                      </a:r>
                      <a:endParaRPr lang="en-US" sz="13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300" dirty="0">
                          <a:solidFill>
                            <a:srgbClr val="2F2E2B"/>
                          </a:solidFill>
                          <a:latin typeface="Calibri" pitchFamily="34" charset="0"/>
                          <a:ea typeface="Calibri" pitchFamily="34" charset="-122"/>
                          <a:cs typeface="Calibri" pitchFamily="34" charset="-120"/>
                        </a:rPr>
                        <a:t>Adaptive system in use</a:t>
                      </a:r>
                      <a:endParaRPr lang="en-US" sz="13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300" dirty="0">
                          <a:solidFill>
                            <a:srgbClr val="2F2E2B"/>
                          </a:solidFill>
                          <a:latin typeface="Calibri" pitchFamily="34" charset="0"/>
                          <a:ea typeface="Calibri" pitchFamily="34" charset="-122"/>
                          <a:cs typeface="Calibri" pitchFamily="34" charset="-120"/>
                        </a:rPr>
                        <a:t>Delay −33 % and −38 %</a:t>
                      </a:r>
                      <a:endParaRPr lang="en-US" sz="13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r>
              <a:tr h="495300">
                <a:tc>
                  <a:txBody>
                    <a:bodyPr/>
                    <a:lstStyle/>
                    <a:p>
                      <a:pPr indent="0" marL="0">
                        <a:buNone/>
                      </a:pPr>
                      <a:r>
                        <a:rPr lang="en-US" sz="1300" dirty="0">
                          <a:solidFill>
                            <a:srgbClr val="2F2E2B"/>
                          </a:solidFill>
                          <a:latin typeface="Calibri" pitchFamily="34" charset="0"/>
                          <a:ea typeface="Calibri" pitchFamily="34" charset="-122"/>
                          <a:cs typeface="Calibri" pitchFamily="34" charset="-120"/>
                        </a:rPr>
                        <a:t>Hangzhou and Nanchang pilots (2025), not RL</a:t>
                      </a:r>
                      <a:endParaRPr lang="en-US" sz="13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300" dirty="0">
                          <a:solidFill>
                            <a:srgbClr val="2F2E2B"/>
                          </a:solidFill>
                          <a:latin typeface="Calibri" pitchFamily="34" charset="0"/>
                          <a:ea typeface="Calibri" pitchFamily="34" charset="-122"/>
                          <a:cs typeface="Calibri" pitchFamily="34" charset="-120"/>
                        </a:rPr>
                        <a:t>Real streets</a:t>
                      </a:r>
                      <a:endParaRPr lang="en-US" sz="13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300" dirty="0">
                          <a:solidFill>
                            <a:srgbClr val="2F2E2B"/>
                          </a:solidFill>
                          <a:latin typeface="Calibri" pitchFamily="34" charset="0"/>
                          <a:ea typeface="Calibri" pitchFamily="34" charset="-122"/>
                          <a:cs typeface="Calibri" pitchFamily="34" charset="-120"/>
                        </a:rPr>
                        <a:t>Before and after</a:t>
                      </a:r>
                      <a:endParaRPr lang="en-US" sz="13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300" dirty="0">
                          <a:solidFill>
                            <a:srgbClr val="2F2E2B"/>
                          </a:solidFill>
                          <a:latin typeface="Calibri" pitchFamily="34" charset="0"/>
                          <a:ea typeface="Calibri" pitchFamily="34" charset="-122"/>
                          <a:cs typeface="Calibri" pitchFamily="34" charset="-120"/>
                        </a:rPr>
                        <a:t>Trip delay −15 % or more</a:t>
                      </a:r>
                      <a:endParaRPr lang="en-US" sz="13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r>
              <a:tr h="495300">
                <a:tc>
                  <a:txBody>
                    <a:bodyPr/>
                    <a:lstStyle/>
                    <a:p>
                      <a:pPr indent="0" marL="0">
                        <a:buNone/>
                      </a:pPr>
                      <a:r>
                        <a:rPr lang="en-US" sz="1300" b="1" dirty="0">
                          <a:solidFill>
                            <a:srgbClr val="2F2E2B"/>
                          </a:solidFill>
                          <a:latin typeface="Calibri" pitchFamily="34" charset="0"/>
                          <a:ea typeface="Calibri" pitchFamily="34" charset="-122"/>
                          <a:cs typeface="Calibri" pitchFamily="34" charset="-120"/>
                        </a:rPr>
                        <a:t>RL field tests</a:t>
                      </a:r>
                      <a:endParaRPr lang="en-US" sz="13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solidFill>
                      <a:srgbClr val="EEF1E9"/>
                    </a:solidFill>
                  </a:tcPr>
                </a:tc>
                <a:tc>
                  <a:txBody>
                    <a:bodyPr/>
                    <a:lstStyle/>
                    <a:p>
                      <a:pPr indent="0" marL="0">
                        <a:buNone/>
                      </a:pPr>
                      <a:r>
                        <a:rPr lang="en-US" sz="1300" dirty="0">
                          <a:solidFill>
                            <a:srgbClr val="2F2E2B"/>
                          </a:solidFill>
                          <a:latin typeface="Calibri" pitchFamily="34" charset="0"/>
                          <a:ea typeface="Calibri" pitchFamily="34" charset="-122"/>
                          <a:cs typeface="Calibri" pitchFamily="34" charset="-120"/>
                        </a:rPr>
                        <a:t>Real streets</a:t>
                      </a:r>
                      <a:endParaRPr lang="en-US" sz="13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solidFill>
                      <a:srgbClr val="EEF1E9"/>
                    </a:solidFill>
                  </a:tcPr>
                </a:tc>
                <a:tc>
                  <a:txBody>
                    <a:bodyPr/>
                    <a:lstStyle/>
                    <a:p>
                      <a:pPr indent="0" marL="0">
                        <a:buNone/>
                      </a:pPr>
                      <a:r>
                        <a:rPr lang="en-US" sz="1300" dirty="0">
                          <a:solidFill>
                            <a:srgbClr val="2F2E2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solidFill>
                      <a:srgbClr val="EEF1E9"/>
                    </a:solidFill>
                  </a:tcPr>
                </a:tc>
                <a:tc>
                  <a:txBody>
                    <a:bodyPr/>
                    <a:lstStyle/>
                    <a:p>
                      <a:pPr indent="0" marL="0">
                        <a:buNone/>
                      </a:pPr>
                      <a:r>
                        <a:rPr lang="en-US" sz="1300" b="1" dirty="0">
                          <a:solidFill>
                            <a:srgbClr val="2F2E2B"/>
                          </a:solidFill>
                          <a:latin typeface="Calibri" pitchFamily="34" charset="0"/>
                          <a:ea typeface="Calibri" pitchFamily="34" charset="-122"/>
                          <a:cs typeface="Calibri" pitchFamily="34" charset="-120"/>
                        </a:rPr>
                        <a:t>None found in our targeted searches</a:t>
                      </a:r>
                      <a:endParaRPr lang="en-US" sz="13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solidFill>
                      <a:srgbClr val="EEF1E9"/>
                    </a:solidFill>
                  </a:tcPr>
                </a:tc>
              </a:tr>
            </a:tbl>
          </a:graphicData>
        </a:graphic>
      </p:graphicFrame>
      <p:sp>
        <p:nvSpPr>
          <p:cNvPr id="5" name="Pattern"/>
          <p:cNvSpPr txBox="1"/>
          <p:nvPr/>
        </p:nvSpPr>
        <p:spPr>
          <a:xfrm>
            <a:off x="812800" y="5905500"/>
            <a:ext cx="9525000" cy="285750"/>
          </a:xfrm>
          <a:prstGeom prst="rect">
            <a:avLst/>
          </a:prstGeom>
          <a:noFill/>
          <a:ln/>
        </p:spPr>
        <p:txBody>
          <a:bodyPr wrap="square" lIns="0" tIns="0" rIns="0" bIns="0" rtlCol="0" anchor="t"/>
          <a:lstStyle/>
          <a:p>
            <a:pPr indent="0" marL="0">
              <a:buNone/>
            </a:pPr>
            <a:r>
              <a:rPr lang="en-US" sz="1300" b="1" dirty="0">
                <a:solidFill>
                  <a:schemeClr val="accent1"/>
                </a:solidFill>
                <a:latin typeface="Calibri" pitchFamily="34" charset="0"/>
                <a:ea typeface="Calibri" pitchFamily="34" charset="-122"/>
                <a:cs typeface="Calibri" pitchFamily="34" charset="-120"/>
              </a:rPr>
              <a:t>Early pattern: the tougher the comparison, the smaller the gain. </a:t>
            </a:r>
            <a:pPr indent="0" marL="0">
              <a:buNone/>
            </a:pPr>
            <a:r>
              <a:rPr lang="en-US" sz="1300" dirty="0">
                <a:solidFill>
                  <a:schemeClr val="tx2"/>
                </a:solidFill>
                <a:latin typeface="Calibri" pitchFamily="34" charset="0"/>
                <a:ea typeface="Calibri" pitchFamily="34" charset="-122"/>
                <a:cs typeface="Calibri" pitchFamily="34" charset="-120"/>
              </a:rPr>
              <a:t>Scoping evidence only; RQ4 will test it properly.</a:t>
            </a:r>
            <a:endParaRPr lang="en-US" sz="1300" dirty="0"/>
          </a:p>
        </p:txBody>
      </p:sp>
      <p:sp>
        <p:nvSpPr>
          <p:cNvPr id="25" name="Slide Number Placeholder 0"/>
          <p:cNvSpPr>
            <a:spLocks noGrp="1"/>
          </p:cNvSpPr>
          <p:nvPr>
            <p:ph type="sldNum" sz="quarter" idx="4294967295"/>
          </p:nvPr>
        </p:nvSpPr>
        <p:spPr>
          <a:xfrm>
            <a:off x="10744200" y="6286500"/>
            <a:ext cx="635000" cy="254000"/>
          </a:xfrm>
          <a:prstGeom prst="rect">
            <a:avLst/>
          </a:prstGeom>
          <a:extLst>
            <a:ext uri="{C572A759-6A51-4108-AA02-DFA0A04FC94B}">
              <ma14:wrappingTextBoxFlag xmlns:ma14="http://schemas.microsoft.com/office/mac/drawingml/2011/main" val="0"/>
            </a:ext>
          </a:extLst>
        </p:spPr>
        <p:txBody>
          <a:bodyPr/>
          <a:lstStyle>
            <a:lvl1pPr>
              <a:defRPr sz="1100">
                <a:solidFill>
                  <a:srgbClr val="6B6A64"/>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812800" y="698500"/>
            <a:ext cx="10566400" cy="698500"/>
          </a:xfrm>
          <a:prstGeom prst="rect">
            <a:avLst/>
          </a:prstGeom>
          <a:noFill/>
          <a:ln/>
        </p:spPr>
        <p:txBody>
          <a:bodyPr wrap="square" lIns="0" tIns="0" rIns="0" bIns="0" rtlCol="0" anchor="ctr"/>
          <a:lstStyle/>
          <a:p>
            <a:pPr algn="l" indent="0" marL="0">
              <a:buNone/>
            </a:pPr>
            <a:r>
              <a:rPr lang="en-US" sz="3600" dirty="0">
                <a:solidFill>
                  <a:schemeClr val="tx1"/>
                </a:solidFill>
                <a:latin typeface="Cambria" pitchFamily="34" charset="0"/>
                <a:ea typeface="Cambria" pitchFamily="34" charset="-122"/>
                <a:cs typeface="Cambria" pitchFamily="34" charset="-120"/>
              </a:rPr>
              <a:t>Progress: about 50% complete</a:t>
            </a:r>
            <a:endParaRPr lang="en-US" sz="3600" dirty="0"/>
          </a:p>
        </p:txBody>
      </p:sp>
      <p:sp>
        <p:nvSpPr>
          <p:cNvPr id="4" name="Completion"/>
          <p:cNvSpPr txBox="1"/>
          <p:nvPr/>
        </p:nvSpPr>
        <p:spPr>
          <a:xfrm>
            <a:off x="812800" y="1714500"/>
            <a:ext cx="2413000" cy="1206500"/>
          </a:xfrm>
          <a:prstGeom prst="rect">
            <a:avLst/>
          </a:prstGeom>
          <a:noFill/>
          <a:ln/>
        </p:spPr>
        <p:txBody>
          <a:bodyPr wrap="square" lIns="0" tIns="0" rIns="0" bIns="0" rtlCol="0" anchor="ctr"/>
          <a:lstStyle/>
          <a:p>
            <a:pPr indent="0" marL="0">
              <a:buNone/>
            </a:pPr>
            <a:r>
              <a:rPr lang="en-US" sz="8800" dirty="0">
                <a:solidFill>
                  <a:schemeClr val="accent1"/>
                </a:solidFill>
                <a:latin typeface="Cambria" pitchFamily="34" charset="0"/>
                <a:ea typeface="Cambria" pitchFamily="34" charset="-122"/>
                <a:cs typeface="Cambria" pitchFamily="34" charset="-120"/>
              </a:rPr>
              <a:t>50%</a:t>
            </a:r>
            <a:endParaRPr lang="en-US" sz="8800" dirty="0"/>
          </a:p>
        </p:txBody>
      </p:sp>
      <p:sp>
        <p:nvSpPr>
          <p:cNvPr id="5" name="Completion caption"/>
          <p:cNvSpPr txBox="1"/>
          <p:nvPr/>
        </p:nvSpPr>
        <p:spPr>
          <a:xfrm>
            <a:off x="812800" y="3016250"/>
            <a:ext cx="2286000" cy="95250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The design half is done. The execution half starts with the database searches.</a:t>
            </a:r>
            <a:endParaRPr lang="en-US" sz="1500" dirty="0"/>
          </a:p>
        </p:txBody>
      </p:sp>
      <p:graphicFrame>
        <p:nvGraphicFramePr>
          <p:cNvPr id="11" name="Completion breakdown"/>
          <p:cNvGraphicFramePr>
            <a:graphicFrameLocks noGrp="1"/>
          </p:cNvGraphicFramePr>
          <p:nvPr>
            <p:extLst>
              <p:ext uri="{D42A27DB-BD31-4B8C-83A1-F6EECF244321}">
                <p14:modId xmlns:p14="http://schemas.microsoft.com/office/powerpoint/2010/main" val="1579011935"/>
              </p:ext>
            </p:extLst>
          </p:nvPr>
        </p:nvGraphicFramePr>
        <p:xfrm>
          <a:off x="3632200" y="1746250"/>
          <a:ext cx="7747000" cy="914400"/>
        </p:xfrm>
        <a:graphic>
          <a:graphicData uri="http://schemas.openxmlformats.org/drawingml/2006/table">
            <a:tbl>
              <a:tblPr/>
              <a:tblGrid>
                <a:gridCol w="3408680"/>
                <a:gridCol w="1084580"/>
                <a:gridCol w="2169160"/>
                <a:gridCol w="1084580"/>
              </a:tblGrid>
              <a:tr h="419100">
                <a:tc>
                  <a:txBody>
                    <a:bodyPr/>
                    <a:lstStyle/>
                    <a:p>
                      <a:pPr algn="l" indent="0" marL="0">
                        <a:buNone/>
                      </a:pPr>
                      <a:r>
                        <a:rPr lang="en-US" sz="1400" b="1" dirty="0">
                          <a:solidFill>
                            <a:srgbClr val="2F2E2B"/>
                          </a:solidFill>
                          <a:latin typeface="Calibri" pitchFamily="34" charset="0"/>
                          <a:ea typeface="Calibri" pitchFamily="34" charset="-122"/>
                          <a:cs typeface="Calibri" pitchFamily="34" charset="-120"/>
                        </a:rPr>
                        <a:t>Phase</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solidFill>
                      <a:srgbClr val="E8E6E1"/>
                    </a:solidFill>
                  </a:tcPr>
                </a:tc>
                <a:tc>
                  <a:txBody>
                    <a:bodyPr/>
                    <a:lstStyle/>
                    <a:p>
                      <a:pPr algn="r" indent="0" marL="0">
                        <a:buNone/>
                      </a:pPr>
                      <a:r>
                        <a:rPr lang="en-US" sz="1400" b="1" dirty="0">
                          <a:solidFill>
                            <a:srgbClr val="2F2E2B"/>
                          </a:solidFill>
                          <a:latin typeface="Calibri" pitchFamily="34" charset="0"/>
                          <a:ea typeface="Calibri" pitchFamily="34" charset="-122"/>
                          <a:cs typeface="Calibri" pitchFamily="34" charset="-120"/>
                        </a:rPr>
                        <a:t>Weight</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solidFill>
                      <a:srgbClr val="E8E6E1"/>
                    </a:solidFill>
                  </a:tcPr>
                </a:tc>
                <a:tc>
                  <a:txBody>
                    <a:bodyPr/>
                    <a:lstStyle/>
                    <a:p>
                      <a:pPr algn="l" indent="0" marL="0">
                        <a:buNone/>
                      </a:pPr>
                      <a:r>
                        <a:rPr lang="en-US" sz="1400" b="1" dirty="0">
                          <a:solidFill>
                            <a:srgbClr val="2F2E2B"/>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solidFill>
                      <a:srgbClr val="E8E6E1"/>
                    </a:solidFill>
                  </a:tcPr>
                </a:tc>
                <a:tc>
                  <a:txBody>
                    <a:bodyPr/>
                    <a:lstStyle/>
                    <a:p>
                      <a:pPr algn="r" indent="0" marL="0">
                        <a:buNone/>
                      </a:pPr>
                      <a:r>
                        <a:rPr lang="en-US" sz="1400" b="1" dirty="0">
                          <a:solidFill>
                            <a:srgbClr val="2F2E2B"/>
                          </a:solidFill>
                          <a:latin typeface="Calibri" pitchFamily="34" charset="0"/>
                          <a:ea typeface="Calibri" pitchFamily="34" charset="-122"/>
                          <a:cs typeface="Calibri" pitchFamily="34" charset="-120"/>
                        </a:rPr>
                        <a:t>Earned</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solidFill>
                      <a:srgbClr val="E8E6E1"/>
                    </a:solidFill>
                  </a:tcPr>
                </a:tc>
              </a:tr>
              <a:tr h="419100">
                <a:tc>
                  <a:txBody>
                    <a:bodyPr/>
                    <a:lstStyle/>
                    <a:p>
                      <a:pPr indent="0" marL="0">
                        <a:buNone/>
                      </a:pPr>
                      <a:r>
                        <a:rPr lang="en-US" sz="1400" dirty="0">
                          <a:solidFill>
                            <a:srgbClr val="2F2E2B"/>
                          </a:solidFill>
                          <a:latin typeface="Calibri" pitchFamily="34" charset="0"/>
                          <a:ea typeface="Calibri" pitchFamily="34" charset="-122"/>
                          <a:cs typeface="Calibri" pitchFamily="34" charset="-120"/>
                        </a:rPr>
                        <a:t>Planning and protocol (Steps 1–6)</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algn="r" indent="0" marL="0">
                        <a:buNone/>
                      </a:pPr>
                      <a:r>
                        <a:rPr lang="en-US" sz="1400" dirty="0">
                          <a:solidFill>
                            <a:srgbClr val="2F2E2B"/>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400" dirty="0">
                          <a:solidFill>
                            <a:srgbClr val="2F2E2B"/>
                          </a:solidFill>
                          <a:latin typeface="Calibri" pitchFamily="34" charset="0"/>
                          <a:ea typeface="Calibri" pitchFamily="34" charset="-122"/>
                          <a:cs typeface="Calibri" pitchFamily="34" charset="-120"/>
                        </a:rPr>
                        <a:t>Done</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algn="r" indent="0" marL="0">
                        <a:buNone/>
                      </a:pPr>
                      <a:r>
                        <a:rPr lang="en-US" sz="1400" dirty="0">
                          <a:solidFill>
                            <a:srgbClr val="2F2E2B"/>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r>
              <a:tr h="419100">
                <a:tc>
                  <a:txBody>
                    <a:bodyPr/>
                    <a:lstStyle/>
                    <a:p>
                      <a:pPr indent="0" marL="0">
                        <a:buNone/>
                      </a:pPr>
                      <a:r>
                        <a:rPr lang="en-US" sz="1400" dirty="0">
                          <a:solidFill>
                            <a:srgbClr val="2F2E2B"/>
                          </a:solidFill>
                          <a:latin typeface="Calibri" pitchFamily="34" charset="0"/>
                          <a:ea typeface="Calibri" pitchFamily="34" charset="-122"/>
                          <a:cs typeface="Calibri" pitchFamily="34" charset="-120"/>
                        </a:rPr>
                        <a:t>Search strategy (Steps 7–12)</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algn="r" indent="0" marL="0">
                        <a:buNone/>
                      </a:pPr>
                      <a:r>
                        <a:rPr lang="en-US" sz="1400" dirty="0">
                          <a:solidFill>
                            <a:srgbClr val="2F2E2B"/>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400" dirty="0">
                          <a:solidFill>
                            <a:srgbClr val="2F2E2B"/>
                          </a:solidFill>
                          <a:latin typeface="Calibri" pitchFamily="34" charset="0"/>
                          <a:ea typeface="Calibri" pitchFamily="34" charset="-122"/>
                          <a:cs typeface="Calibri" pitchFamily="34" charset="-120"/>
                        </a:rPr>
                        <a:t>Pilot and lock left</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algn="r" indent="0" marL="0">
                        <a:buNone/>
                      </a:pPr>
                      <a:r>
                        <a:rPr lang="en-US" sz="1400" dirty="0">
                          <a:solidFill>
                            <a:srgbClr val="2F2E2B"/>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r>
              <a:tr h="419100">
                <a:tc>
                  <a:txBody>
                    <a:bodyPr/>
                    <a:lstStyle/>
                    <a:p>
                      <a:pPr indent="0" marL="0">
                        <a:buNone/>
                      </a:pPr>
                      <a:r>
                        <a:rPr lang="en-US" sz="1400" dirty="0">
                          <a:solidFill>
                            <a:srgbClr val="2F2E2B"/>
                          </a:solidFill>
                          <a:latin typeface="Calibri" pitchFamily="34" charset="0"/>
                          <a:ea typeface="Calibri" pitchFamily="34" charset="-122"/>
                          <a:cs typeface="Calibri" pitchFamily="34" charset="-120"/>
                        </a:rPr>
                        <a:t>Review tools (Steps 13–27)</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algn="r" indent="0" marL="0">
                        <a:buNone/>
                      </a:pPr>
                      <a:r>
                        <a:rPr lang="en-US" sz="1400" dirty="0">
                          <a:solidFill>
                            <a:srgbClr val="2F2E2B"/>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400" dirty="0">
                          <a:solidFill>
                            <a:srgbClr val="2F2E2B"/>
                          </a:solidFill>
                          <a:latin typeface="Calibri" pitchFamily="34" charset="0"/>
                          <a:ea typeface="Calibri" pitchFamily="34" charset="-122"/>
                          <a:cs typeface="Calibri" pitchFamily="34" charset="-120"/>
                        </a:rPr>
                        <a:t>Built, tests pass</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algn="r" indent="0" marL="0">
                        <a:buNone/>
                      </a:pPr>
                      <a:r>
                        <a:rPr lang="en-US" sz="1400" dirty="0">
                          <a:solidFill>
                            <a:srgbClr val="2F2E2B"/>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r>
              <a:tr h="419100">
                <a:tc>
                  <a:txBody>
                    <a:bodyPr/>
                    <a:lstStyle/>
                    <a:p>
                      <a:pPr indent="0" marL="0">
                        <a:buNone/>
                      </a:pPr>
                      <a:r>
                        <a:rPr lang="en-US" sz="1400" dirty="0">
                          <a:solidFill>
                            <a:srgbClr val="2F2E2B"/>
                          </a:solidFill>
                          <a:latin typeface="Calibri" pitchFamily="34" charset="0"/>
                          <a:ea typeface="Calibri" pitchFamily="34" charset="-122"/>
                          <a:cs typeface="Calibri" pitchFamily="34" charset="-120"/>
                        </a:rPr>
                        <a:t>Database search and screening</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algn="r" indent="0" marL="0">
                        <a:buNone/>
                      </a:pPr>
                      <a:r>
                        <a:rPr lang="en-US" sz="1400" dirty="0">
                          <a:solidFill>
                            <a:srgbClr val="2F2E2B"/>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400" dirty="0">
                          <a:solidFill>
                            <a:srgbClr val="2F2E2B"/>
                          </a:solidFill>
                          <a:latin typeface="Calibri" pitchFamily="34" charset="0"/>
                          <a:ea typeface="Calibri" pitchFamily="34" charset="-122"/>
                          <a:cs typeface="Calibri" pitchFamily="34" charset="-120"/>
                        </a:rPr>
                        <a:t>Next</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algn="r" indent="0" marL="0">
                        <a:buNone/>
                      </a:pPr>
                      <a:r>
                        <a:rPr lang="en-US" sz="1400" dirty="0">
                          <a:solidFill>
                            <a:srgbClr val="2F2E2B"/>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r>
              <a:tr h="419100">
                <a:tc>
                  <a:txBody>
                    <a:bodyPr/>
                    <a:lstStyle/>
                    <a:p>
                      <a:pPr indent="0" marL="0">
                        <a:buNone/>
                      </a:pPr>
                      <a:r>
                        <a:rPr lang="en-US" sz="1400" dirty="0">
                          <a:solidFill>
                            <a:srgbClr val="2F2E2B"/>
                          </a:solidFill>
                          <a:latin typeface="Calibri" pitchFamily="34" charset="0"/>
                          <a:ea typeface="Calibri" pitchFamily="34" charset="-122"/>
                          <a:cs typeface="Calibri" pitchFamily="34" charset="-120"/>
                        </a:rPr>
                        <a:t>Quality and data extraction</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algn="r" indent="0" marL="0">
                        <a:buNone/>
                      </a:pPr>
                      <a:r>
                        <a:rPr lang="en-US" sz="1400" dirty="0">
                          <a:solidFill>
                            <a:srgbClr val="2F2E2B"/>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400" dirty="0">
                          <a:solidFill>
                            <a:srgbClr val="2F2E2B"/>
                          </a:solidFill>
                          <a:latin typeface="Calibri" pitchFamily="34" charset="0"/>
                          <a:ea typeface="Calibri" pitchFamily="34" charset="-122"/>
                          <a:cs typeface="Calibri" pitchFamily="34" charset="-120"/>
                        </a:rPr>
                        <a:t>Not started</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algn="r" indent="0" marL="0">
                        <a:buNone/>
                      </a:pPr>
                      <a:r>
                        <a:rPr lang="en-US" sz="1400" dirty="0">
                          <a:solidFill>
                            <a:srgbClr val="2F2E2B"/>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r>
              <a:tr h="419100">
                <a:tc>
                  <a:txBody>
                    <a:bodyPr/>
                    <a:lstStyle/>
                    <a:p>
                      <a:pPr indent="0" marL="0">
                        <a:buNone/>
                      </a:pPr>
                      <a:r>
                        <a:rPr lang="en-US" sz="1400" dirty="0">
                          <a:solidFill>
                            <a:srgbClr val="2F2E2B"/>
                          </a:solidFill>
                          <a:latin typeface="Calibri" pitchFamily="34" charset="0"/>
                          <a:ea typeface="Calibri" pitchFamily="34" charset="-122"/>
                          <a:cs typeface="Calibri" pitchFamily="34" charset="-120"/>
                        </a:rPr>
                        <a:t>Synthesis and writing</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algn="r" indent="0" marL="0">
                        <a:buNone/>
                      </a:pPr>
                      <a:r>
                        <a:rPr lang="en-US" sz="1400" dirty="0">
                          <a:solidFill>
                            <a:srgbClr val="2F2E2B"/>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indent="0" marL="0">
                        <a:buNone/>
                      </a:pPr>
                      <a:r>
                        <a:rPr lang="en-US" sz="1400" dirty="0">
                          <a:solidFill>
                            <a:srgbClr val="2F2E2B"/>
                          </a:solidFill>
                          <a:latin typeface="Calibri" pitchFamily="34" charset="0"/>
                          <a:ea typeface="Calibri" pitchFamily="34" charset="-122"/>
                          <a:cs typeface="Calibri" pitchFamily="34" charset="-120"/>
                        </a:rPr>
                        <a:t>Taxonomy, first evidence</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c>
                  <a:txBody>
                    <a:bodyPr/>
                    <a:lstStyle/>
                    <a:p>
                      <a:pPr algn="r" indent="0" marL="0">
                        <a:buNone/>
                      </a:pPr>
                      <a:r>
                        <a:rPr lang="en-US" sz="1400" dirty="0">
                          <a:solidFill>
                            <a:srgbClr val="2F2E2B"/>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tcPr>
                </a:tc>
              </a:tr>
              <a:tr h="419100">
                <a:tc>
                  <a:txBody>
                    <a:bodyPr/>
                    <a:lstStyle/>
                    <a:p>
                      <a:pPr indent="0" marL="0">
                        <a:buNone/>
                      </a:pPr>
                      <a:r>
                        <a:rPr lang="en-US" sz="1400" b="1" dirty="0">
                          <a:solidFill>
                            <a:srgbClr val="2F2E2B"/>
                          </a:solidFill>
                          <a:latin typeface="Calibri" pitchFamily="34" charset="0"/>
                          <a:ea typeface="Calibri" pitchFamily="34" charset="-122"/>
                          <a:cs typeface="Calibri" pitchFamily="34" charset="-120"/>
                        </a:rPr>
                        <a:t>Total</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solidFill>
                      <a:srgbClr val="E8E6E1"/>
                    </a:solidFill>
                  </a:tcPr>
                </a:tc>
                <a:tc>
                  <a:txBody>
                    <a:bodyPr/>
                    <a:lstStyle/>
                    <a:p>
                      <a:pPr algn="r" indent="0" marL="0">
                        <a:buNone/>
                      </a:pPr>
                      <a:r>
                        <a:rPr lang="en-US" sz="1400" b="1" dirty="0">
                          <a:solidFill>
                            <a:srgbClr val="2F2E2B"/>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solidFill>
                      <a:srgbClr val="E8E6E1"/>
                    </a:solidFill>
                  </a:tcPr>
                </a:tc>
                <a:tc>
                  <a:txBody>
                    <a:bodyPr/>
                    <a:lstStyle/>
                    <a:p>
                      <a:pPr indent="0" marL="0">
                        <a:buNone/>
                      </a:pP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solidFill>
                      <a:srgbClr val="E8E6E1"/>
                    </a:solidFill>
                  </a:tcPr>
                </a:tc>
                <a:tc>
                  <a:txBody>
                    <a:bodyPr/>
                    <a:lstStyle/>
                    <a:p>
                      <a:pPr algn="r" indent="0" marL="0">
                        <a:buNone/>
                      </a:pPr>
                      <a:r>
                        <a:rPr lang="en-US" sz="1400" b="1" dirty="0">
                          <a:solidFill>
                            <a:srgbClr val="2F2E2B"/>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marL="101600" marR="101600" marT="50800" marB="50800" anchor="ctr">
                    <a:lnL w="9525" cap="flat" cmpd="sng" algn="ctr">
                      <a:solidFill>
                        <a:srgbClr val="D5D3CD"/>
                      </a:solidFill>
                      <a:prstDash val="solid"/>
                      <a:round/>
                      <a:headEnd type="none" w="med" len="med"/>
                      <a:tailEnd type="none" w="med" len="med"/>
                    </a:lnL>
                    <a:lnR w="9525" cap="flat" cmpd="sng" algn="ctr">
                      <a:solidFill>
                        <a:srgbClr val="D5D3CD"/>
                      </a:solidFill>
                      <a:prstDash val="solid"/>
                      <a:round/>
                      <a:headEnd type="none" w="med" len="med"/>
                      <a:tailEnd type="none" w="med" len="med"/>
                    </a:lnR>
                    <a:lnT w="9525" cap="flat" cmpd="sng" algn="ctr">
                      <a:solidFill>
                        <a:srgbClr val="D5D3CD"/>
                      </a:solidFill>
                      <a:prstDash val="solid"/>
                      <a:round/>
                      <a:headEnd type="none" w="med" len="med"/>
                      <a:tailEnd type="none" w="med" len="med"/>
                    </a:lnT>
                    <a:lnB w="9525" cap="flat" cmpd="sng" algn="ctr">
                      <a:solidFill>
                        <a:srgbClr val="D5D3CD"/>
                      </a:solidFill>
                      <a:prstDash val="solid"/>
                      <a:round/>
                      <a:headEnd type="none" w="med" len="med"/>
                      <a:tailEnd type="none" w="med" len="med"/>
                    </a:lnB>
                    <a:solidFill>
                      <a:srgbClr val="E8E6E1"/>
                    </a:solidFill>
                  </a:tcPr>
                </a:tc>
              </a:tr>
            </a:tbl>
          </a:graphicData>
        </a:graphic>
      </p:graphicFrame>
      <p:sp>
        <p:nvSpPr>
          <p:cNvPr id="25" name="Slide Number Placeholder 0"/>
          <p:cNvSpPr>
            <a:spLocks noGrp="1"/>
          </p:cNvSpPr>
          <p:nvPr>
            <p:ph type="sldNum" sz="quarter" idx="4294967295"/>
          </p:nvPr>
        </p:nvSpPr>
        <p:spPr>
          <a:xfrm>
            <a:off x="10744200" y="6286500"/>
            <a:ext cx="635000" cy="254000"/>
          </a:xfrm>
          <a:prstGeom prst="rect">
            <a:avLst/>
          </a:prstGeom>
          <a:extLst>
            <a:ext uri="{C572A759-6A51-4108-AA02-DFA0A04FC94B}">
              <ma14:wrappingTextBoxFlag xmlns:ma14="http://schemas.microsoft.com/office/mac/drawingml/2011/main" val="0"/>
            </a:ext>
          </a:extLst>
        </p:spPr>
        <p:txBody>
          <a:bodyPr/>
          <a:lstStyle>
            <a:lvl1pPr>
              <a:defRPr sz="1100">
                <a:solidFill>
                  <a:srgbClr val="6B6A64"/>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Smart Traffic Lights">
  <a:themeElements>
    <a:clrScheme name="Smart Traffic Lights">
      <a:dk1>
        <a:srgbClr val="2F2E2B"/>
      </a:dk1>
      <a:lt1>
        <a:srgbClr val="FFFFFF"/>
      </a:lt1>
      <a:dk2>
        <a:srgbClr val="6B6A64"/>
      </a:dk2>
      <a:lt2>
        <a:srgbClr val="F8F7F4"/>
      </a:lt2>
      <a:accent1>
        <a:srgbClr val="5E7048"/>
      </a:accent1>
      <a:accent2>
        <a:srgbClr val="3F4D31"/>
      </a:accent2>
      <a:accent3>
        <a:srgbClr val="D3DAC8"/>
      </a:accent3>
      <a:accent4>
        <a:srgbClr val="E8E6E1"/>
      </a:accent4>
      <a:accent5>
        <a:srgbClr val="D5D3CD"/>
      </a:accent5>
      <a:accent6>
        <a:srgbClr val="8A9A74"/>
      </a:accent6>
      <a:hlink>
        <a:srgbClr val="5E7048"/>
      </a:hlink>
      <a:folHlink>
        <a:srgbClr val="3F4D31"/>
      </a:folHlink>
    </a:clrScheme>
    <a:fontScheme name="Smart Traffic Light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Traffic Lights That Learn — Midterm</dc:title>
  <dc:subject>PptxGenJS Presentation</dc:subject>
  <dc:creator>Rakhimzhanov Amangeldy, Nurkin Aidar</dc:creator>
  <cp:lastModifiedBy>Rakhimzhanov Amangeldy, Nurkin Aidar</cp:lastModifiedBy>
  <cp:revision>1</cp:revision>
  <dcterms:created xsi:type="dcterms:W3CDTF">2026-10-19T14:54:32Z</dcterms:created>
  <dcterms:modified xsi:type="dcterms:W3CDTF">2026-10-19T14:54:32Z</dcterms:modified>
</cp:coreProperties>
</file>