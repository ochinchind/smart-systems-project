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and why it is a smart system" id="{550a055c-645d-bebb-c656-b8d6c86fbd3a}">
          <p14:sldIdLst>
            <p14:sldId id="256"/>
            <p14:sldId id="257"/>
            <p14:sldId id="258"/>
          </p14:sldIdLst>
        </p14:section>
        <p14:section name="What we ask and how we review" id="{48b113a7-fe4c-b5dd-2de3-343c27a995f1}">
          <p14:sldIdLst>
            <p14:sldId id="259"/>
            <p14:sldId id="260"/>
            <p14:sldId id="261"/>
          </p14:sldIdLst>
        </p14:section>
        <p14:section name="Our contribution and early evidence" id="{27c0db6b-c8e8-cb27-51c3-5ef1e47cfd57}">
          <p14:sldIdLst>
            <p14:sldId id="262"/>
            <p14:sldId id="263"/>
          </p14:sldIdLst>
        </p14:section>
        <p14:section name="What is done and how complete the project is" id="{d5b9de18-95e3-fec9-b19c-5bee45b41b1f}">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Amangeldy and Aidar. Our project is a systematic literature review on traffic lights that learn by themselves using reinforcement learning. In the next five minutes we will show the problem, our research questions, how we run the review, what we have already built, and why we say the project is about fifty percent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traffic lights in our cities still run on fixed timers. The green phase lasts the same time at three in the morning and in rush hour. A learning traffic light is different: it watches real traffic through cameras and road sensors and adapts its timing. Research on this is booming, and many papers show shorter waiting times, but almost all of those results come from computer simulations. Real field tests are very rare. Understanding that gap is the core of 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a smart system? Because it closes the full loop. It senses traffic with cameras and detectors, decides with an AI model, acts by switching the lights, and learns from a reward: the less people wait, the higher the reward. This is reinforcement learning, which learns by trial and error. That is also the catch: trial and error is cheap in a simulator but risky at a real intersection.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proposal had four questions. We refined them into six that can actually be answered from published papers. Each one is linked to fields we will extract from every study. The two most important are RQ3, how realistically a method was tested, and RQ4, how much it really improves traffic. RQ5 and RQ6 turn the evidence into barriers and a research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follow PRISMA 2020, the standard for systematic reviews. First we fixed a protocol, so the rules cannot change after we see the results. Then we search three databases, and two reviewers screen every paper independently, first by title and abstract, then by full text. Each included study gets a quality score out of ten. Data goes into one codebook, and every number is traced to its page or table. Finally we synthesise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search combines two concepts with AND: reinforcement learning, with all its common names, and traffic signals. We wrote the exact search strings for Scopus, Web of Science and IEEE Xplore, for papers from 2019 to 2026, journal and conference papers in English. Before we lock the search, we pilot it: it must find most of 20 papers we already know are relevant. If it misses some, we add the missing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main contribution. Earlier reviews ask which algorithm is best. We also ask how realistically each method was tested. We code every study on a six-level scale: from a purely synthetic simulation at level zero, through simulations with real traffic data and real hardware, up to a field test and a sustained deployment in a city. Then we can compare the reported improvements level by level and see whether the gains survive contact with reality.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designing the search, we ran a scoping search. Four things stood out. Simulators like SUMO and CityFlow dominate. Papers that focus on deployment say almost no RL signals run on live streets. The last systematic review stops in 2020. And many papers reuse the same few city datasets, so we must avoid counting the same evidence twice. These are design inputs, not our final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exists today. Fifteen planning and method documents, combined into one 32-page dossier. Search strings for all three databases, ready to run. A codebook with 64 extraction fields. And a small software pipeline with ten commands that imports database exports, removes duplicates, manages screening, and draws the PRISMA diagram directly from our records. Its tests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complete are we? We weighted the project by effort into six phases. Planning and the protocol are finished: 20 of 20 points. The search strategy is written for all three databases; only the pilot run and the formal lock are left, so 13 of 15. The tools for screening, quality scoring, extraction and synthesis are built and tested: 15 of 15. Synthesis has a draft taxonomy, worth 2 points. Searching, screening, extraction and writing have not started yet. That gives 50 out of 100. In other words, the design half of the review is complete, and the execution half starts now with the database searches.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905000"/>
            <a:ext cx="10566400" cy="1905000"/>
          </a:xfrm>
          <a:prstGeom prst="rect">
            <a:avLst/>
          </a:prstGeom>
          <a:noFill/>
          <a:ln/>
        </p:spPr>
        <p:txBody>
          <a:bodyPr wrap="square" rtlCol="0"/>
          <a:lstStyle>
            <a:lvl1pPr algn="l" indent="0" marL="0">
              <a:lnSpc>
                <a:spcPct val="95000"/>
              </a:lnSpc>
              <a:buNone/>
              <a:defRPr lang="en-US" sz="6000" dirty="0">
                <a:solidFill>
                  <a:schemeClr val="tx1"/>
                </a:solidFill>
                <a:latin typeface="Cambria" pitchFamily="34" charset="0"/>
                <a:ea typeface="Cambria" pitchFamily="34" charset="-122"/>
                <a:cs typeface="Cambria" pitchFamily="34" charset="-120"/>
              </a:defRPr>
            </a:lvl1pPr>
          </a:lstStyle>
          <a:p>
            <a:pPr algn="l" indent="0" marL="0">
              <a:lnSpc>
                <a:spcPct val="95000"/>
              </a:lnSpc>
              <a:buNone/>
            </a:pPr>
            <a:r>
              <a:rPr lang="en-US" sz="6000" dirty="0">
                <a:solidFill>
                  <a:schemeClr val="tx1"/>
                </a:solidFill>
                <a:latin typeface="Cambria" pitchFamily="34" charset="0"/>
                <a:ea typeface="Cambria" pitchFamily="34" charset="-122"/>
                <a:cs typeface="Cambria" pitchFamily="34" charset="-120"/>
              </a:rPr>
              <a:t>Title</a:t>
            </a:r>
            <a:endParaRPr lang="en-US" sz="6000" dirty="0"/>
          </a:p>
        </p:txBody>
      </p:sp>
      <p:sp>
        <p:nvSpPr>
          <p:cNvPr id="3" name="Text 0"/>
          <p:cNvSpPr/>
          <p:nvPr>
            <p:ph idx="101" type="body" hasCustomPrompt="1"/>
          </p:nvPr>
        </p:nvSpPr>
        <p:spPr>
          <a:xfrm>
            <a:off x="812800" y="4064000"/>
            <a:ext cx="8890000" cy="825500"/>
          </a:xfrm>
          <a:prstGeom prst="rect">
            <a:avLst/>
          </a:prstGeom>
          <a:noFill/>
          <a:ln/>
        </p:spPr>
        <p:txBody>
          <a:bodyPr wrap="square" rtlCol="0"/>
          <a:lstStyle>
            <a:lvl1pPr algn="l" indent="0" marL="0">
              <a:buNone/>
              <a:defRPr lang="en-US" sz="2000" dirty="0">
                <a:solidFill>
                  <a:schemeClr val="tx2"/>
                </a:solidFill>
                <a:latin typeface="Calibri" pitchFamily="34" charset="0"/>
                <a:ea typeface="Calibri" pitchFamily="34" charset="-122"/>
                <a:cs typeface="Calibri" pitchFamily="34" charset="-120"/>
              </a:defRPr>
            </a:lvl1pPr>
          </a:lstStyle>
          <a:p>
            <a:pPr algn="l" indent="0" marL="0">
              <a:buNone/>
            </a:pPr>
            <a:r>
              <a:rPr lang="en-US" sz="2000" dirty="0">
                <a:solidFill>
                  <a:schemeClr val="tx2"/>
                </a:solidFill>
                <a:latin typeface="Calibri" pitchFamily="34" charset="0"/>
                <a:ea typeface="Calibri" pitchFamily="34" charset="-122"/>
                <a:cs typeface="Calibri" pitchFamily="34" charset="-120"/>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rtlCol="0"/>
          <a:lstStyle>
            <a:lvl1pPr algn="l" indent="0" marL="0">
              <a:buNone/>
              <a:defRPr lang="en-US" sz="3600" dirty="0">
                <a:solidFill>
                  <a:schemeClr val="tx1"/>
                </a:solidFill>
                <a:latin typeface="Cambria" pitchFamily="34" charset="0"/>
                <a:ea typeface="Cambria" pitchFamily="34" charset="-122"/>
                <a:cs typeface="Cambria" pitchFamily="34" charset="-120"/>
              </a:defRPr>
            </a:lvl1pPr>
          </a:lstStyle>
          <a:p>
            <a:pPr algn="l" indent="0" marL="0">
              <a:buNone/>
            </a:pPr>
            <a:r>
              <a:rPr lang="en-US" sz="3600" dirty="0">
                <a:solidFill>
                  <a:schemeClr val="tx1"/>
                </a:solidFill>
                <a:latin typeface="Cambria" pitchFamily="34" charset="0"/>
                <a:ea typeface="Cambria" pitchFamily="34" charset="-122"/>
                <a:cs typeface="Cambria" pitchFamily="34" charset="-120"/>
              </a:rPr>
              <a:t>Title</a:t>
            </a:r>
            <a:endParaRPr lang="en-US" sz="36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12800" y="1905000"/>
            <a:ext cx="10566400" cy="1905000"/>
          </a:xfrm>
          <a:prstGeom prst="rect">
            <a:avLst/>
          </a:prstGeom>
          <a:noFill/>
          <a:ln/>
        </p:spPr>
        <p:txBody>
          <a:bodyPr wrap="square" lIns="0" tIns="0" rIns="0" bIns="0" rtlCol="0" anchor="b"/>
          <a:lstStyle/>
          <a:p>
            <a:pPr algn="l" indent="0" marL="0">
              <a:lnSpc>
                <a:spcPct val="95000"/>
              </a:lnSpc>
              <a:buNone/>
            </a:pPr>
            <a:r>
              <a:rPr lang="en-US" sz="6000" dirty="0">
                <a:solidFill>
                  <a:schemeClr val="tx1"/>
                </a:solidFill>
                <a:latin typeface="Cambria" pitchFamily="34" charset="0"/>
                <a:ea typeface="Cambria" pitchFamily="34" charset="-122"/>
                <a:cs typeface="Cambria" pitchFamily="34" charset="-120"/>
              </a:rPr>
              <a:t>Smart traffic lights</a:t>
            </a:r>
            <a:endParaRPr lang="en-US" sz="6000" dirty="0"/>
          </a:p>
          <a:p>
            <a:pPr algn="l" indent="0" marL="0">
              <a:lnSpc>
                <a:spcPct val="95000"/>
              </a:lnSpc>
              <a:buNone/>
            </a:pPr>
            <a:r>
              <a:rPr lang="en-US" sz="6000" dirty="0">
                <a:solidFill>
                  <a:schemeClr val="tx1"/>
                </a:solidFill>
                <a:latin typeface="Cambria" pitchFamily="34" charset="0"/>
                <a:ea typeface="Cambria" pitchFamily="34" charset="-122"/>
                <a:cs typeface="Cambria" pitchFamily="34" charset="-120"/>
              </a:rPr>
              <a:t>that learn</a:t>
            </a:r>
            <a:endParaRPr lang="en-US" sz="6000" dirty="0"/>
          </a:p>
        </p:txBody>
      </p:sp>
      <p:sp>
        <p:nvSpPr>
          <p:cNvPr id="3" name="Text 0"/>
          <p:cNvSpPr/>
          <p:nvPr>
            <p:ph idx="101" type="body" hasCustomPrompt="1"/>
          </p:nvPr>
        </p:nvSpPr>
        <p:spPr>
          <a:xfrm>
            <a:off x="812800" y="4064000"/>
            <a:ext cx="8890000" cy="825500"/>
          </a:xfrm>
          <a:prstGeom prst="rect">
            <a:avLst/>
          </a:prstGeom>
          <a:noFill/>
          <a:ln/>
        </p:spPr>
        <p:txBody>
          <a:bodyPr wrap="square" lIns="0" tIns="0" rIns="0" bIns="0" rtlCol="0" anchor="t"/>
          <a:lstStyle/>
          <a:p>
            <a:pPr algn="l" indent="0" marL="0">
              <a:buNone/>
            </a:pPr>
            <a:r>
              <a:rPr lang="en-US" sz="2000" dirty="0">
                <a:solidFill>
                  <a:schemeClr val="tx2"/>
                </a:solidFill>
                <a:latin typeface="Calibri" pitchFamily="34" charset="0"/>
                <a:ea typeface="Calibri" pitchFamily="34" charset="-122"/>
                <a:cs typeface="Calibri" pitchFamily="34" charset="-120"/>
              </a:rPr>
              <a:t>A systematic literature review of reinforcement learning for traffic signal control: from simulation to real streets</a:t>
            </a:r>
            <a:endParaRPr lang="en-US" sz="2000" dirty="0"/>
          </a:p>
        </p:txBody>
      </p:sp>
      <p:sp>
        <p:nvSpPr>
          <p:cNvPr id="4" name="Authors"/>
          <p:cNvSpPr txBox="1"/>
          <p:nvPr/>
        </p:nvSpPr>
        <p:spPr>
          <a:xfrm>
            <a:off x="812800" y="6032500"/>
            <a:ext cx="10566400" cy="254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Rakhimzhanov Amangeldy  ·  Nurkin Aidar  ·  </a:t>
            </a:r>
            <a:pPr indent="0" marL="0">
              <a:buNone/>
            </a:pPr>
            <a:r>
              <a:rPr lang="en-US" sz="1400" dirty="0">
                <a:solidFill>
                  <a:schemeClr val="accent1"/>
                </a:solidFill>
                <a:latin typeface="Calibri" pitchFamily="34" charset="0"/>
                <a:ea typeface="Calibri" pitchFamily="34" charset="-122"/>
                <a:cs typeface="Calibri" pitchFamily="34" charset="-120"/>
              </a:rPr>
              <a:t>Midterm progress report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Why traffic lights should learn</a:t>
            </a:r>
            <a:endParaRPr lang="en-US" sz="3600" dirty="0"/>
          </a:p>
        </p:txBody>
      </p:sp>
      <p:sp>
        <p:nvSpPr>
          <p:cNvPr id="4" name="Fixed-time light rule"/>
          <p:cNvSpPr/>
          <p:nvPr/>
        </p:nvSpPr>
        <p:spPr>
          <a:xfrm>
            <a:off x="812800" y="1778000"/>
            <a:ext cx="5105400" cy="0"/>
          </a:xfrm>
          <a:prstGeom prst="line">
            <a:avLst/>
          </a:prstGeom>
          <a:noFill/>
          <a:ln w="15875">
            <a:solidFill>
              <a:srgbClr val="D5D3CD"/>
            </a:solidFill>
            <a:prstDash val="solid"/>
          </a:ln>
        </p:spPr>
      </p:sp>
      <p:sp>
        <p:nvSpPr>
          <p:cNvPr id="5" name="Fixed-time light title"/>
          <p:cNvSpPr txBox="1"/>
          <p:nvPr/>
        </p:nvSpPr>
        <p:spPr>
          <a:xfrm>
            <a:off x="812800" y="193675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Fixed-time light</a:t>
            </a:r>
            <a:endParaRPr lang="en-US" sz="2200" dirty="0"/>
          </a:p>
        </p:txBody>
      </p:sp>
      <p:sp>
        <p:nvSpPr>
          <p:cNvPr id="6" name="Fixed-time light text"/>
          <p:cNvSpPr txBox="1"/>
          <p:nvPr/>
        </p:nvSpPr>
        <p:spPr>
          <a:xfrm>
            <a:off x="812800" y="23622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Same green and red durations whether the road is empty or jammed</a:t>
            </a:r>
            <a:endParaRPr lang="en-US" sz="1500" dirty="0"/>
          </a:p>
        </p:txBody>
      </p:sp>
      <p:sp>
        <p:nvSpPr>
          <p:cNvPr id="7" name="Learning light rule"/>
          <p:cNvSpPr/>
          <p:nvPr/>
        </p:nvSpPr>
        <p:spPr>
          <a:xfrm>
            <a:off x="6273800" y="1778000"/>
            <a:ext cx="5105400" cy="0"/>
          </a:xfrm>
          <a:prstGeom prst="line">
            <a:avLst/>
          </a:prstGeom>
          <a:noFill/>
          <a:ln w="15875">
            <a:solidFill>
              <a:srgbClr val="2F2E2B"/>
            </a:solidFill>
            <a:prstDash val="solid"/>
          </a:ln>
        </p:spPr>
      </p:sp>
      <p:sp>
        <p:nvSpPr>
          <p:cNvPr id="8" name="Learning light title"/>
          <p:cNvSpPr txBox="1"/>
          <p:nvPr/>
        </p:nvSpPr>
        <p:spPr>
          <a:xfrm>
            <a:off x="6273800" y="193675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Learning light</a:t>
            </a:r>
            <a:endParaRPr lang="en-US" sz="2200" dirty="0"/>
          </a:p>
        </p:txBody>
      </p:sp>
      <p:sp>
        <p:nvSpPr>
          <p:cNvPr id="9" name="Learning light text"/>
          <p:cNvSpPr txBox="1"/>
          <p:nvPr/>
        </p:nvSpPr>
        <p:spPr>
          <a:xfrm>
            <a:off x="6273800" y="23622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Watches real traffic and changes its timing on the fly</a:t>
            </a:r>
            <a:endParaRPr lang="en-US" sz="1500" dirty="0"/>
          </a:p>
        </p:txBody>
      </p:sp>
      <p:sp>
        <p:nvSpPr>
          <p:cNvPr id="10" name="Gap statement"/>
          <p:cNvSpPr txBox="1"/>
          <p:nvPr/>
        </p:nvSpPr>
        <p:spPr>
          <a:xfrm>
            <a:off x="812800" y="33655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Hundreds of studies report shorter waits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in simulation</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yet peer-reviewed tests on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real streets</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are still very rare. Our review asks why this gap exists.</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A smart system in a loop</a:t>
            </a:r>
            <a:endParaRPr lang="en-US" sz="3600" dirty="0"/>
          </a:p>
        </p:txBody>
      </p:sp>
      <p:sp>
        <p:nvSpPr>
          <p:cNvPr id="4" name="Sense rule"/>
          <p:cNvSpPr/>
          <p:nvPr/>
        </p:nvSpPr>
        <p:spPr>
          <a:xfrm>
            <a:off x="812800" y="1778000"/>
            <a:ext cx="2451100" cy="0"/>
          </a:xfrm>
          <a:prstGeom prst="line">
            <a:avLst/>
          </a:prstGeom>
          <a:noFill/>
          <a:ln w="15875">
            <a:solidFill>
              <a:srgbClr val="2F2E2B"/>
            </a:solidFill>
            <a:prstDash val="solid"/>
          </a:ln>
        </p:spPr>
      </p:sp>
      <p:sp>
        <p:nvSpPr>
          <p:cNvPr id="5" name="Sense number"/>
          <p:cNvSpPr txBox="1"/>
          <p:nvPr/>
        </p:nvSpPr>
        <p:spPr>
          <a:xfrm>
            <a:off x="8128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01</a:t>
            </a:r>
            <a:endParaRPr lang="en-US" sz="1200" dirty="0"/>
          </a:p>
        </p:txBody>
      </p:sp>
      <p:sp>
        <p:nvSpPr>
          <p:cNvPr id="6" name="Sense title"/>
          <p:cNvSpPr txBox="1"/>
          <p:nvPr/>
        </p:nvSpPr>
        <p:spPr>
          <a:xfrm>
            <a:off x="8128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Sense</a:t>
            </a:r>
            <a:endParaRPr lang="en-US" sz="2200" dirty="0"/>
          </a:p>
        </p:txBody>
      </p:sp>
      <p:sp>
        <p:nvSpPr>
          <p:cNvPr id="7" name="Sense text"/>
          <p:cNvSpPr txBox="1"/>
          <p:nvPr/>
        </p:nvSpPr>
        <p:spPr>
          <a:xfrm>
            <a:off x="8128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Cameras and road sensors measure queues and waiting cars</a:t>
            </a:r>
            <a:endParaRPr lang="en-US" sz="1400" dirty="0"/>
          </a:p>
        </p:txBody>
      </p:sp>
      <p:sp>
        <p:nvSpPr>
          <p:cNvPr id="8" name="Decide rule"/>
          <p:cNvSpPr/>
          <p:nvPr/>
        </p:nvSpPr>
        <p:spPr>
          <a:xfrm>
            <a:off x="3517900" y="1778000"/>
            <a:ext cx="2451100" cy="0"/>
          </a:xfrm>
          <a:prstGeom prst="line">
            <a:avLst/>
          </a:prstGeom>
          <a:noFill/>
          <a:ln w="15875">
            <a:solidFill>
              <a:srgbClr val="2F2E2B"/>
            </a:solidFill>
            <a:prstDash val="solid"/>
          </a:ln>
        </p:spPr>
      </p:sp>
      <p:sp>
        <p:nvSpPr>
          <p:cNvPr id="9" name="Decide number"/>
          <p:cNvSpPr txBox="1"/>
          <p:nvPr/>
        </p:nvSpPr>
        <p:spPr>
          <a:xfrm>
            <a:off x="35179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02</a:t>
            </a:r>
            <a:endParaRPr lang="en-US" sz="1200" dirty="0"/>
          </a:p>
        </p:txBody>
      </p:sp>
      <p:sp>
        <p:nvSpPr>
          <p:cNvPr id="10" name="Decide title"/>
          <p:cNvSpPr txBox="1"/>
          <p:nvPr/>
        </p:nvSpPr>
        <p:spPr>
          <a:xfrm>
            <a:off x="35179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Decide</a:t>
            </a:r>
            <a:endParaRPr lang="en-US" sz="2200" dirty="0"/>
          </a:p>
        </p:txBody>
      </p:sp>
      <p:sp>
        <p:nvSpPr>
          <p:cNvPr id="11" name="Decide text"/>
          <p:cNvSpPr txBox="1"/>
          <p:nvPr/>
        </p:nvSpPr>
        <p:spPr>
          <a:xfrm>
            <a:off x="35179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An RL agent picks the next green phase</a:t>
            </a:r>
            <a:endParaRPr lang="en-US" sz="1400" dirty="0"/>
          </a:p>
        </p:txBody>
      </p:sp>
      <p:sp>
        <p:nvSpPr>
          <p:cNvPr id="12" name="Act rule"/>
          <p:cNvSpPr/>
          <p:nvPr/>
        </p:nvSpPr>
        <p:spPr>
          <a:xfrm>
            <a:off x="6223000" y="1778000"/>
            <a:ext cx="2451100" cy="0"/>
          </a:xfrm>
          <a:prstGeom prst="line">
            <a:avLst/>
          </a:prstGeom>
          <a:noFill/>
          <a:ln w="15875">
            <a:solidFill>
              <a:srgbClr val="2F2E2B"/>
            </a:solidFill>
            <a:prstDash val="solid"/>
          </a:ln>
        </p:spPr>
      </p:sp>
      <p:sp>
        <p:nvSpPr>
          <p:cNvPr id="13" name="Act number"/>
          <p:cNvSpPr txBox="1"/>
          <p:nvPr/>
        </p:nvSpPr>
        <p:spPr>
          <a:xfrm>
            <a:off x="62230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03</a:t>
            </a:r>
            <a:endParaRPr lang="en-US" sz="1200" dirty="0"/>
          </a:p>
        </p:txBody>
      </p:sp>
      <p:sp>
        <p:nvSpPr>
          <p:cNvPr id="14" name="Act title"/>
          <p:cNvSpPr txBox="1"/>
          <p:nvPr/>
        </p:nvSpPr>
        <p:spPr>
          <a:xfrm>
            <a:off x="62230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Act</a:t>
            </a:r>
            <a:endParaRPr lang="en-US" sz="2200" dirty="0"/>
          </a:p>
        </p:txBody>
      </p:sp>
      <p:sp>
        <p:nvSpPr>
          <p:cNvPr id="15" name="Act text"/>
          <p:cNvSpPr txBox="1"/>
          <p:nvPr/>
        </p:nvSpPr>
        <p:spPr>
          <a:xfrm>
            <a:off x="62230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signal switches on the real road</a:t>
            </a:r>
            <a:endParaRPr lang="en-US" sz="1400" dirty="0"/>
          </a:p>
        </p:txBody>
      </p:sp>
      <p:sp>
        <p:nvSpPr>
          <p:cNvPr id="16" name="Learn rule"/>
          <p:cNvSpPr/>
          <p:nvPr/>
        </p:nvSpPr>
        <p:spPr>
          <a:xfrm>
            <a:off x="8928100" y="1778000"/>
            <a:ext cx="2451100" cy="0"/>
          </a:xfrm>
          <a:prstGeom prst="line">
            <a:avLst/>
          </a:prstGeom>
          <a:noFill/>
          <a:ln w="15875">
            <a:solidFill>
              <a:srgbClr val="2F2E2B"/>
            </a:solidFill>
            <a:prstDash val="solid"/>
          </a:ln>
        </p:spPr>
      </p:sp>
      <p:sp>
        <p:nvSpPr>
          <p:cNvPr id="17" name="Learn number"/>
          <p:cNvSpPr txBox="1"/>
          <p:nvPr/>
        </p:nvSpPr>
        <p:spPr>
          <a:xfrm>
            <a:off x="89281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04</a:t>
            </a:r>
            <a:endParaRPr lang="en-US" sz="1200" dirty="0"/>
          </a:p>
        </p:txBody>
      </p:sp>
      <p:sp>
        <p:nvSpPr>
          <p:cNvPr id="18" name="Learn title"/>
          <p:cNvSpPr txBox="1"/>
          <p:nvPr/>
        </p:nvSpPr>
        <p:spPr>
          <a:xfrm>
            <a:off x="89281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Learn</a:t>
            </a:r>
            <a:endParaRPr lang="en-US" sz="2200" dirty="0"/>
          </a:p>
        </p:txBody>
      </p:sp>
      <p:sp>
        <p:nvSpPr>
          <p:cNvPr id="19" name="Learn text"/>
          <p:cNvSpPr txBox="1"/>
          <p:nvPr/>
        </p:nvSpPr>
        <p:spPr>
          <a:xfrm>
            <a:off x="89281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Less waiting earns a reward, so the policy improves</a:t>
            </a:r>
            <a:endParaRPr lang="en-US" sz="1400" dirty="0"/>
          </a:p>
        </p:txBody>
      </p:sp>
      <p:sp>
        <p:nvSpPr>
          <p:cNvPr id="20" name="Key point bar"/>
          <p:cNvSpPr/>
          <p:nvPr/>
        </p:nvSpPr>
        <p:spPr>
          <a:xfrm>
            <a:off x="812800" y="3619500"/>
            <a:ext cx="31750" cy="698500"/>
          </a:xfrm>
          <a:prstGeom prst="rect">
            <a:avLst/>
          </a:prstGeom>
          <a:solidFill>
            <a:schemeClr val="accent1"/>
          </a:solidFill>
          <a:ln/>
        </p:spPr>
      </p:sp>
      <p:sp>
        <p:nvSpPr>
          <p:cNvPr id="21" name="Key point"/>
          <p:cNvSpPr txBox="1"/>
          <p:nvPr/>
        </p:nvSpPr>
        <p:spPr>
          <a:xfrm>
            <a:off x="1016000" y="36195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The light learns its timing by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trial and error</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not from a hand-made plan. Mistakes during learning are why real streets are hard.</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Six research questions</a:t>
            </a:r>
            <a:endParaRPr lang="en-US" sz="3600" dirty="0"/>
          </a:p>
        </p:txBody>
      </p:sp>
      <p:graphicFrame>
        <p:nvGraphicFramePr>
          <p:cNvPr id="5" name="Research questions"/>
          <p:cNvGraphicFramePr>
            <a:graphicFrameLocks noGrp="1"/>
          </p:cNvGraphicFramePr>
          <p:nvPr>
            <p:extLst>
              <p:ext uri="{D42A27DB-BD31-4B8C-83A1-F6EECF244321}">
                <p14:modId xmlns:p14="http://schemas.microsoft.com/office/powerpoint/2010/main" val="1579011935"/>
              </p:ext>
            </p:extLst>
          </p:nvPr>
        </p:nvGraphicFramePr>
        <p:xfrm>
          <a:off x="812800" y="1746250"/>
          <a:ext cx="10566400" cy="914400"/>
        </p:xfrm>
        <a:graphic>
          <a:graphicData uri="http://schemas.openxmlformats.org/drawingml/2006/table">
            <a:tbl>
              <a:tblPr/>
              <a:tblGrid>
                <a:gridCol w="1901952"/>
                <a:gridCol w="5283200"/>
                <a:gridCol w="3381248"/>
              </a:tblGrid>
              <a:tr h="444500">
                <a:tc>
                  <a:txBody>
                    <a:bodyPr/>
                    <a:lstStyle/>
                    <a:p>
                      <a:pPr algn="l" indent="0" marL="0">
                        <a:buNone/>
                      </a:pPr>
                      <a:r>
                        <a:rPr lang="en-US" sz="1500" b="1" dirty="0">
                          <a:solidFill>
                            <a:srgbClr val="2F2E2B"/>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l" indent="0" marL="0">
                        <a:buNone/>
                      </a:pPr>
                      <a:r>
                        <a:rPr lang="en-US" sz="1500" b="1" dirty="0">
                          <a:solidFill>
                            <a:srgbClr val="2F2E2B"/>
                          </a:solidFill>
                          <a:latin typeface="Calibri" pitchFamily="34" charset="0"/>
                          <a:ea typeface="Calibri" pitchFamily="34" charset="-122"/>
                          <a:cs typeface="Calibri" pitchFamily="34" charset="-120"/>
                        </a:rPr>
                        <a:t>What we ask</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l" indent="0" marL="0">
                        <a:buNone/>
                      </a:pPr>
                      <a:r>
                        <a:rPr lang="en-US" sz="1500" b="1" dirty="0">
                          <a:solidFill>
                            <a:srgbClr val="2F2E2B"/>
                          </a:solidFill>
                          <a:latin typeface="Calibri" pitchFamily="34" charset="0"/>
                          <a:ea typeface="Calibri" pitchFamily="34" charset="-122"/>
                          <a:cs typeface="Calibri" pitchFamily="34" charset="-120"/>
                        </a:rPr>
                        <a:t>What we extract</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RQ1 Landscape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How fast is the field growing, and where?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Year, venue, country</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RQ2 Methods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Which RL methods, states, actions and rewards?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Algorithm, agents, reward</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RQ3 Validation</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Tested only in simulators, or on real roads?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Simulator, data, realism level</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RQ4 Performance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How much do waits, queues and travel times drop?</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Values against baselines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RQ5 Barriers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What stops RL lights from reaching real cities?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Barriers and proposed fixes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RQ6 Future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Which gaps remain, and what should come next?</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Gap matrix</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How we review: PRISMA 2020</a:t>
            </a:r>
            <a:endParaRPr lang="en-US" sz="3600" dirty="0"/>
          </a:p>
        </p:txBody>
      </p:sp>
      <p:sp>
        <p:nvSpPr>
          <p:cNvPr id="4" name="Intro"/>
          <p:cNvSpPr txBox="1"/>
          <p:nvPr/>
        </p:nvSpPr>
        <p:spPr>
          <a:xfrm>
            <a:off x="812800" y="1492250"/>
            <a:ext cx="10566400" cy="28575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The international standard for systematic reviews, in six stages.</a:t>
            </a:r>
            <a:endParaRPr lang="en-US" sz="1500" dirty="0"/>
          </a:p>
        </p:txBody>
      </p:sp>
      <p:sp>
        <p:nvSpPr>
          <p:cNvPr id="5" name="Plan rule"/>
          <p:cNvSpPr/>
          <p:nvPr/>
        </p:nvSpPr>
        <p:spPr>
          <a:xfrm>
            <a:off x="812800" y="2032000"/>
            <a:ext cx="3318933" cy="0"/>
          </a:xfrm>
          <a:prstGeom prst="line">
            <a:avLst/>
          </a:prstGeom>
          <a:noFill/>
          <a:ln w="15875">
            <a:solidFill>
              <a:srgbClr val="2F2E2B"/>
            </a:solidFill>
            <a:prstDash val="solid"/>
          </a:ln>
        </p:spPr>
      </p:sp>
      <p:sp>
        <p:nvSpPr>
          <p:cNvPr id="6" name="Plan number"/>
          <p:cNvSpPr txBox="1"/>
          <p:nvPr/>
        </p:nvSpPr>
        <p:spPr>
          <a:xfrm>
            <a:off x="812800" y="2146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01</a:t>
            </a:r>
            <a:endParaRPr lang="en-US" sz="1200" dirty="0"/>
          </a:p>
        </p:txBody>
      </p:sp>
      <p:sp>
        <p:nvSpPr>
          <p:cNvPr id="7" name="Plan title"/>
          <p:cNvSpPr txBox="1"/>
          <p:nvPr/>
        </p:nvSpPr>
        <p:spPr>
          <a:xfrm>
            <a:off x="812800" y="2387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Plan</a:t>
            </a:r>
            <a:endParaRPr lang="en-US" sz="2200" dirty="0"/>
          </a:p>
        </p:txBody>
      </p:sp>
      <p:sp>
        <p:nvSpPr>
          <p:cNvPr id="8" name="Plan text"/>
          <p:cNvSpPr txBox="1"/>
          <p:nvPr/>
        </p:nvSpPr>
        <p:spPr>
          <a:xfrm>
            <a:off x="812800" y="2794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Protocol, questions and criteria fixed before searching</a:t>
            </a:r>
            <a:endParaRPr lang="en-US" sz="1400" dirty="0"/>
          </a:p>
        </p:txBody>
      </p:sp>
      <p:sp>
        <p:nvSpPr>
          <p:cNvPr id="9" name="Search rule"/>
          <p:cNvSpPr/>
          <p:nvPr/>
        </p:nvSpPr>
        <p:spPr>
          <a:xfrm>
            <a:off x="4436533" y="2032000"/>
            <a:ext cx="3318933" cy="0"/>
          </a:xfrm>
          <a:prstGeom prst="line">
            <a:avLst/>
          </a:prstGeom>
          <a:noFill/>
          <a:ln w="15875">
            <a:solidFill>
              <a:srgbClr val="2F2E2B"/>
            </a:solidFill>
            <a:prstDash val="solid"/>
          </a:ln>
        </p:spPr>
      </p:sp>
      <p:sp>
        <p:nvSpPr>
          <p:cNvPr id="10" name="Search number"/>
          <p:cNvSpPr txBox="1"/>
          <p:nvPr/>
        </p:nvSpPr>
        <p:spPr>
          <a:xfrm>
            <a:off x="4436533" y="2146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02</a:t>
            </a:r>
            <a:endParaRPr lang="en-US" sz="1200" dirty="0"/>
          </a:p>
        </p:txBody>
      </p:sp>
      <p:sp>
        <p:nvSpPr>
          <p:cNvPr id="11" name="Search title"/>
          <p:cNvSpPr txBox="1"/>
          <p:nvPr/>
        </p:nvSpPr>
        <p:spPr>
          <a:xfrm>
            <a:off x="4436533" y="2387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Search</a:t>
            </a:r>
            <a:endParaRPr lang="en-US" sz="2200" dirty="0"/>
          </a:p>
        </p:txBody>
      </p:sp>
      <p:sp>
        <p:nvSpPr>
          <p:cNvPr id="12" name="Search text"/>
          <p:cNvSpPr txBox="1"/>
          <p:nvPr/>
        </p:nvSpPr>
        <p:spPr>
          <a:xfrm>
            <a:off x="4436533" y="2794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Scopus, Web of Science and IEEE Xplore, 2019–2026</a:t>
            </a:r>
            <a:endParaRPr lang="en-US" sz="1400" dirty="0"/>
          </a:p>
        </p:txBody>
      </p:sp>
      <p:sp>
        <p:nvSpPr>
          <p:cNvPr id="13" name="Screen rule"/>
          <p:cNvSpPr/>
          <p:nvPr/>
        </p:nvSpPr>
        <p:spPr>
          <a:xfrm>
            <a:off x="8060267" y="2032000"/>
            <a:ext cx="3318933" cy="0"/>
          </a:xfrm>
          <a:prstGeom prst="line">
            <a:avLst/>
          </a:prstGeom>
          <a:noFill/>
          <a:ln w="15875">
            <a:solidFill>
              <a:srgbClr val="2F2E2B"/>
            </a:solidFill>
            <a:prstDash val="solid"/>
          </a:ln>
        </p:spPr>
      </p:sp>
      <p:sp>
        <p:nvSpPr>
          <p:cNvPr id="14" name="Screen number"/>
          <p:cNvSpPr txBox="1"/>
          <p:nvPr/>
        </p:nvSpPr>
        <p:spPr>
          <a:xfrm>
            <a:off x="8060267" y="2146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03</a:t>
            </a:r>
            <a:endParaRPr lang="en-US" sz="1200" dirty="0"/>
          </a:p>
        </p:txBody>
      </p:sp>
      <p:sp>
        <p:nvSpPr>
          <p:cNvPr id="15" name="Screen title"/>
          <p:cNvSpPr txBox="1"/>
          <p:nvPr/>
        </p:nvSpPr>
        <p:spPr>
          <a:xfrm>
            <a:off x="8060267" y="2387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Screen</a:t>
            </a:r>
            <a:endParaRPr lang="en-US" sz="2200" dirty="0"/>
          </a:p>
        </p:txBody>
      </p:sp>
      <p:sp>
        <p:nvSpPr>
          <p:cNvPr id="16" name="Screen text"/>
          <p:cNvSpPr txBox="1"/>
          <p:nvPr/>
        </p:nvSpPr>
        <p:spPr>
          <a:xfrm>
            <a:off x="8060267" y="2794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Two reviewers: title and abstract, then full text</a:t>
            </a:r>
            <a:endParaRPr lang="en-US" sz="1400" dirty="0"/>
          </a:p>
        </p:txBody>
      </p:sp>
      <p:sp>
        <p:nvSpPr>
          <p:cNvPr id="17" name="Assess quality rule"/>
          <p:cNvSpPr/>
          <p:nvPr/>
        </p:nvSpPr>
        <p:spPr>
          <a:xfrm>
            <a:off x="812800" y="3683000"/>
            <a:ext cx="3318933" cy="0"/>
          </a:xfrm>
          <a:prstGeom prst="line">
            <a:avLst/>
          </a:prstGeom>
          <a:noFill/>
          <a:ln w="15875">
            <a:solidFill>
              <a:srgbClr val="2F2E2B"/>
            </a:solidFill>
            <a:prstDash val="solid"/>
          </a:ln>
        </p:spPr>
      </p:sp>
      <p:sp>
        <p:nvSpPr>
          <p:cNvPr id="18" name="Assess quality number"/>
          <p:cNvSpPr txBox="1"/>
          <p:nvPr/>
        </p:nvSpPr>
        <p:spPr>
          <a:xfrm>
            <a:off x="812800" y="3797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04</a:t>
            </a:r>
            <a:endParaRPr lang="en-US" sz="1200" dirty="0"/>
          </a:p>
        </p:txBody>
      </p:sp>
      <p:sp>
        <p:nvSpPr>
          <p:cNvPr id="19" name="Assess quality title"/>
          <p:cNvSpPr txBox="1"/>
          <p:nvPr/>
        </p:nvSpPr>
        <p:spPr>
          <a:xfrm>
            <a:off x="812800" y="4038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Assess quality</a:t>
            </a:r>
            <a:endParaRPr lang="en-US" sz="2200" dirty="0"/>
          </a:p>
        </p:txBody>
      </p:sp>
      <p:sp>
        <p:nvSpPr>
          <p:cNvPr id="20" name="Assess quality text"/>
          <p:cNvSpPr txBox="1"/>
          <p:nvPr/>
        </p:nvSpPr>
        <p:spPr>
          <a:xfrm>
            <a:off x="812800" y="4445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Five criteria scored 0–2, maximum 10 points</a:t>
            </a:r>
            <a:endParaRPr lang="en-US" sz="1400" dirty="0"/>
          </a:p>
        </p:txBody>
      </p:sp>
      <p:sp>
        <p:nvSpPr>
          <p:cNvPr id="21" name="Extract rule"/>
          <p:cNvSpPr/>
          <p:nvPr/>
        </p:nvSpPr>
        <p:spPr>
          <a:xfrm>
            <a:off x="4436533" y="3683000"/>
            <a:ext cx="3318933" cy="0"/>
          </a:xfrm>
          <a:prstGeom prst="line">
            <a:avLst/>
          </a:prstGeom>
          <a:noFill/>
          <a:ln w="15875">
            <a:solidFill>
              <a:srgbClr val="2F2E2B"/>
            </a:solidFill>
            <a:prstDash val="solid"/>
          </a:ln>
        </p:spPr>
      </p:sp>
      <p:sp>
        <p:nvSpPr>
          <p:cNvPr id="22" name="Extract number"/>
          <p:cNvSpPr txBox="1"/>
          <p:nvPr/>
        </p:nvSpPr>
        <p:spPr>
          <a:xfrm>
            <a:off x="4436533" y="3797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05</a:t>
            </a:r>
            <a:endParaRPr lang="en-US" sz="1200" dirty="0"/>
          </a:p>
        </p:txBody>
      </p:sp>
      <p:sp>
        <p:nvSpPr>
          <p:cNvPr id="23" name="Extract title"/>
          <p:cNvSpPr txBox="1"/>
          <p:nvPr/>
        </p:nvSpPr>
        <p:spPr>
          <a:xfrm>
            <a:off x="4436533" y="4038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Extract</a:t>
            </a:r>
            <a:endParaRPr lang="en-US" sz="2200" dirty="0"/>
          </a:p>
        </p:txBody>
      </p:sp>
      <p:sp>
        <p:nvSpPr>
          <p:cNvPr id="24" name="Extract text"/>
          <p:cNvSpPr txBox="1"/>
          <p:nvPr/>
        </p:nvSpPr>
        <p:spPr>
          <a:xfrm>
            <a:off x="4436533" y="4445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One codebook; every number traced to its table or page</a:t>
            </a:r>
            <a:endParaRPr lang="en-US" sz="1400" dirty="0"/>
          </a:p>
        </p:txBody>
      </p:sp>
      <p:sp>
        <p:nvSpPr>
          <p:cNvPr id="25" name="Synthesise rule"/>
          <p:cNvSpPr/>
          <p:nvPr/>
        </p:nvSpPr>
        <p:spPr>
          <a:xfrm>
            <a:off x="8060267" y="3683000"/>
            <a:ext cx="3318933" cy="0"/>
          </a:xfrm>
          <a:prstGeom prst="line">
            <a:avLst/>
          </a:prstGeom>
          <a:noFill/>
          <a:ln w="15875">
            <a:solidFill>
              <a:srgbClr val="2F2E2B"/>
            </a:solidFill>
            <a:prstDash val="solid"/>
          </a:ln>
        </p:spPr>
      </p:sp>
      <p:sp>
        <p:nvSpPr>
          <p:cNvPr id="26" name="Synthesise number"/>
          <p:cNvSpPr txBox="1"/>
          <p:nvPr/>
        </p:nvSpPr>
        <p:spPr>
          <a:xfrm>
            <a:off x="8060267" y="3797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06</a:t>
            </a:r>
            <a:endParaRPr lang="en-US" sz="1200" dirty="0"/>
          </a:p>
        </p:txBody>
      </p:sp>
      <p:sp>
        <p:nvSpPr>
          <p:cNvPr id="27" name="Synthesise title"/>
          <p:cNvSpPr txBox="1"/>
          <p:nvPr/>
        </p:nvSpPr>
        <p:spPr>
          <a:xfrm>
            <a:off x="8060267" y="4038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Synthesise</a:t>
            </a:r>
            <a:endParaRPr lang="en-US" sz="2200" dirty="0"/>
          </a:p>
        </p:txBody>
      </p:sp>
      <p:sp>
        <p:nvSpPr>
          <p:cNvPr id="28" name="Synthesise text"/>
          <p:cNvSpPr txBox="1"/>
          <p:nvPr/>
        </p:nvSpPr>
        <p:spPr>
          <a:xfrm>
            <a:off x="8060267" y="4445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Taxonomy, statistics, gaps and the PRISMA flow diagram</a:t>
            </a:r>
            <a:endParaRPr lang="en-US" sz="14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Search strategy</a:t>
            </a:r>
            <a:endParaRPr lang="en-US" sz="3600" dirty="0"/>
          </a:p>
        </p:txBody>
      </p:sp>
      <p:sp>
        <p:nvSpPr>
          <p:cNvPr id="4" name="Reinforcement learning box"/>
          <p:cNvSpPr/>
          <p:nvPr/>
        </p:nvSpPr>
        <p:spPr>
          <a:xfrm>
            <a:off x="812800" y="1714500"/>
            <a:ext cx="4648200" cy="1841500"/>
          </a:xfrm>
          <a:prstGeom prst="roundRect">
            <a:avLst>
              <a:gd name="adj" fmla="val 5959"/>
            </a:avLst>
          </a:prstGeom>
          <a:solidFill>
            <a:schemeClr val="bg1"/>
          </a:solidFill>
          <a:ln w="12700">
            <a:solidFill>
              <a:srgbClr val="D5D3CD"/>
            </a:solidFill>
            <a:prstDash val="solid"/>
          </a:ln>
        </p:spPr>
      </p:sp>
      <p:sp>
        <p:nvSpPr>
          <p:cNvPr id="5" name="Reinforcement learning label"/>
          <p:cNvSpPr txBox="1"/>
          <p:nvPr/>
        </p:nvSpPr>
        <p:spPr>
          <a:xfrm>
            <a:off x="1041400" y="1930400"/>
            <a:ext cx="41910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CONCEPT A · METHOD</a:t>
            </a:r>
            <a:endParaRPr lang="en-US" sz="1200" dirty="0"/>
          </a:p>
        </p:txBody>
      </p:sp>
      <p:sp>
        <p:nvSpPr>
          <p:cNvPr id="6" name="Reinforcement learning title"/>
          <p:cNvSpPr txBox="1"/>
          <p:nvPr/>
        </p:nvSpPr>
        <p:spPr>
          <a:xfrm>
            <a:off x="1041400" y="2197100"/>
            <a:ext cx="41910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Reinforcement learning</a:t>
            </a:r>
            <a:endParaRPr lang="en-US" sz="2200" dirty="0"/>
          </a:p>
        </p:txBody>
      </p:sp>
      <p:sp>
        <p:nvSpPr>
          <p:cNvPr id="7" name="Reinforcement learning terms"/>
          <p:cNvSpPr txBox="1"/>
          <p:nvPr/>
        </p:nvSpPr>
        <p:spPr>
          <a:xfrm>
            <a:off x="1041400" y="2635250"/>
            <a:ext cx="4191000" cy="698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Q-learning · deep Q-network · actor-critic · policy gradient · PPO</a:t>
            </a:r>
            <a:endParaRPr lang="en-US" sz="1500" dirty="0"/>
          </a:p>
        </p:txBody>
      </p:sp>
      <p:sp>
        <p:nvSpPr>
          <p:cNvPr id="8" name="Traffic signals box"/>
          <p:cNvSpPr/>
          <p:nvPr/>
        </p:nvSpPr>
        <p:spPr>
          <a:xfrm>
            <a:off x="6731000" y="1714500"/>
            <a:ext cx="4648200" cy="1841500"/>
          </a:xfrm>
          <a:prstGeom prst="roundRect">
            <a:avLst>
              <a:gd name="adj" fmla="val 5959"/>
            </a:avLst>
          </a:prstGeom>
          <a:solidFill>
            <a:schemeClr val="bg1"/>
          </a:solidFill>
          <a:ln w="12700">
            <a:solidFill>
              <a:srgbClr val="D5D3CD"/>
            </a:solidFill>
            <a:prstDash val="solid"/>
          </a:ln>
        </p:spPr>
      </p:sp>
      <p:sp>
        <p:nvSpPr>
          <p:cNvPr id="9" name="Traffic signals label"/>
          <p:cNvSpPr txBox="1"/>
          <p:nvPr/>
        </p:nvSpPr>
        <p:spPr>
          <a:xfrm>
            <a:off x="6959600" y="1930400"/>
            <a:ext cx="41910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CONCEPT B · APPLICATION</a:t>
            </a:r>
            <a:endParaRPr lang="en-US" sz="1200" dirty="0"/>
          </a:p>
        </p:txBody>
      </p:sp>
      <p:sp>
        <p:nvSpPr>
          <p:cNvPr id="10" name="Traffic signals title"/>
          <p:cNvSpPr txBox="1"/>
          <p:nvPr/>
        </p:nvSpPr>
        <p:spPr>
          <a:xfrm>
            <a:off x="6959600" y="2197100"/>
            <a:ext cx="41910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Traffic signals</a:t>
            </a:r>
            <a:endParaRPr lang="en-US" sz="2200" dirty="0"/>
          </a:p>
        </p:txBody>
      </p:sp>
      <p:sp>
        <p:nvSpPr>
          <p:cNvPr id="11" name="Traffic signals terms"/>
          <p:cNvSpPr txBox="1"/>
          <p:nvPr/>
        </p:nvSpPr>
        <p:spPr>
          <a:xfrm>
            <a:off x="6959600" y="2635250"/>
            <a:ext cx="4191000" cy="698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traffic light · signalized intersection · signal timing · signal phase</a:t>
            </a:r>
            <a:endParaRPr lang="en-US" sz="1500" dirty="0"/>
          </a:p>
        </p:txBody>
      </p:sp>
      <p:sp>
        <p:nvSpPr>
          <p:cNvPr id="12" name="AND"/>
          <p:cNvSpPr txBox="1"/>
          <p:nvPr/>
        </p:nvSpPr>
        <p:spPr>
          <a:xfrm>
            <a:off x="5461000" y="2349500"/>
            <a:ext cx="1270000" cy="571500"/>
          </a:xfrm>
          <a:prstGeom prst="rect">
            <a:avLst/>
          </a:prstGeom>
          <a:noFill/>
          <a:ln/>
        </p:spPr>
        <p:txBody>
          <a:bodyPr wrap="square" lIns="0" tIns="0" rIns="0" bIns="0" rtlCol="0" anchor="ctr"/>
          <a:lstStyle/>
          <a:p>
            <a:pPr algn="ctr" indent="0" marL="0">
              <a:buNone/>
            </a:pPr>
            <a:r>
              <a:rPr lang="en-US" sz="2800" dirty="0">
                <a:solidFill>
                  <a:schemeClr val="accent1"/>
                </a:solidFill>
                <a:latin typeface="Cambria" pitchFamily="34" charset="0"/>
                <a:ea typeface="Cambria" pitchFamily="34" charset="-122"/>
                <a:cs typeface="Cambria" pitchFamily="34" charset="-120"/>
              </a:rPr>
              <a:t>AND</a:t>
            </a:r>
            <a:endParaRPr lang="en-US" sz="2800" dirty="0"/>
          </a:p>
        </p:txBody>
      </p:sp>
      <p:sp>
        <p:nvSpPr>
          <p:cNvPr id="13" name="Stat 1 rule"/>
          <p:cNvSpPr/>
          <p:nvPr/>
        </p:nvSpPr>
        <p:spPr>
          <a:xfrm>
            <a:off x="812800" y="4000500"/>
            <a:ext cx="3352800" cy="0"/>
          </a:xfrm>
          <a:prstGeom prst="line">
            <a:avLst/>
          </a:prstGeom>
          <a:noFill/>
          <a:ln w="15875">
            <a:solidFill>
              <a:srgbClr val="2F2E2B"/>
            </a:solidFill>
            <a:prstDash val="solid"/>
          </a:ln>
        </p:spPr>
      </p:sp>
      <p:sp>
        <p:nvSpPr>
          <p:cNvPr id="14" name="Stat 1 value"/>
          <p:cNvSpPr txBox="1"/>
          <p:nvPr/>
        </p:nvSpPr>
        <p:spPr>
          <a:xfrm>
            <a:off x="812800" y="4114800"/>
            <a:ext cx="3352800" cy="508000"/>
          </a:xfrm>
          <a:prstGeom prst="rect">
            <a:avLst/>
          </a:prstGeom>
          <a:noFill/>
          <a:ln/>
        </p:spPr>
        <p:txBody>
          <a:bodyPr wrap="square" lIns="0" tIns="0" rIns="0" bIns="0" rtlCol="0" anchor="ctr"/>
          <a:lstStyle/>
          <a:p>
            <a:pPr indent="0" marL="0">
              <a:buNone/>
            </a:pPr>
            <a:r>
              <a:rPr lang="en-US" sz="3000" dirty="0">
                <a:solidFill>
                  <a:schemeClr val="tx1"/>
                </a:solidFill>
                <a:latin typeface="Cambria" pitchFamily="34" charset="0"/>
                <a:ea typeface="Cambria" pitchFamily="34" charset="-122"/>
                <a:cs typeface="Cambria" pitchFamily="34" charset="-120"/>
              </a:rPr>
              <a:t>3</a:t>
            </a:r>
            <a:endParaRPr lang="en-US" sz="3000" dirty="0"/>
          </a:p>
        </p:txBody>
      </p:sp>
      <p:sp>
        <p:nvSpPr>
          <p:cNvPr id="15" name="Stat 1 label"/>
          <p:cNvSpPr txBox="1"/>
          <p:nvPr/>
        </p:nvSpPr>
        <p:spPr>
          <a:xfrm>
            <a:off x="812800" y="4667250"/>
            <a:ext cx="3352800" cy="28575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databases searched</a:t>
            </a:r>
            <a:endParaRPr lang="en-US" sz="1400" dirty="0"/>
          </a:p>
        </p:txBody>
      </p:sp>
      <p:sp>
        <p:nvSpPr>
          <p:cNvPr id="16" name="Stat 2 rule"/>
          <p:cNvSpPr/>
          <p:nvPr/>
        </p:nvSpPr>
        <p:spPr>
          <a:xfrm>
            <a:off x="4419600" y="4000500"/>
            <a:ext cx="3352800" cy="0"/>
          </a:xfrm>
          <a:prstGeom prst="line">
            <a:avLst/>
          </a:prstGeom>
          <a:noFill/>
          <a:ln w="15875">
            <a:solidFill>
              <a:srgbClr val="2F2E2B"/>
            </a:solidFill>
            <a:prstDash val="solid"/>
          </a:ln>
        </p:spPr>
      </p:sp>
      <p:sp>
        <p:nvSpPr>
          <p:cNvPr id="17" name="Stat 2 value"/>
          <p:cNvSpPr txBox="1"/>
          <p:nvPr/>
        </p:nvSpPr>
        <p:spPr>
          <a:xfrm>
            <a:off x="4419600" y="4114800"/>
            <a:ext cx="3352800" cy="508000"/>
          </a:xfrm>
          <a:prstGeom prst="rect">
            <a:avLst/>
          </a:prstGeom>
          <a:noFill/>
          <a:ln/>
        </p:spPr>
        <p:txBody>
          <a:bodyPr wrap="square" lIns="0" tIns="0" rIns="0" bIns="0" rtlCol="0" anchor="ctr"/>
          <a:lstStyle/>
          <a:p>
            <a:pPr indent="0" marL="0">
              <a:buNone/>
            </a:pPr>
            <a:r>
              <a:rPr lang="en-US" sz="3000" dirty="0">
                <a:solidFill>
                  <a:schemeClr val="tx1"/>
                </a:solidFill>
                <a:latin typeface="Cambria" pitchFamily="34" charset="0"/>
                <a:ea typeface="Cambria" pitchFamily="34" charset="-122"/>
                <a:cs typeface="Cambria" pitchFamily="34" charset="-120"/>
              </a:rPr>
              <a:t>2019–2026</a:t>
            </a:r>
            <a:endParaRPr lang="en-US" sz="3000" dirty="0"/>
          </a:p>
        </p:txBody>
      </p:sp>
      <p:sp>
        <p:nvSpPr>
          <p:cNvPr id="18" name="Stat 2 label"/>
          <p:cNvSpPr txBox="1"/>
          <p:nvPr/>
        </p:nvSpPr>
        <p:spPr>
          <a:xfrm>
            <a:off x="4419600" y="4667250"/>
            <a:ext cx="3352800" cy="28575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publication window</a:t>
            </a:r>
            <a:endParaRPr lang="en-US" sz="1400" dirty="0"/>
          </a:p>
        </p:txBody>
      </p:sp>
      <p:sp>
        <p:nvSpPr>
          <p:cNvPr id="19" name="Stat 3 rule"/>
          <p:cNvSpPr/>
          <p:nvPr/>
        </p:nvSpPr>
        <p:spPr>
          <a:xfrm>
            <a:off x="8026400" y="4000500"/>
            <a:ext cx="3352800" cy="0"/>
          </a:xfrm>
          <a:prstGeom prst="line">
            <a:avLst/>
          </a:prstGeom>
          <a:noFill/>
          <a:ln w="15875">
            <a:solidFill>
              <a:srgbClr val="2F2E2B"/>
            </a:solidFill>
            <a:prstDash val="solid"/>
          </a:ln>
        </p:spPr>
      </p:sp>
      <p:sp>
        <p:nvSpPr>
          <p:cNvPr id="20" name="Stat 3 value"/>
          <p:cNvSpPr txBox="1"/>
          <p:nvPr/>
        </p:nvSpPr>
        <p:spPr>
          <a:xfrm>
            <a:off x="8026400" y="4114800"/>
            <a:ext cx="3352800" cy="508000"/>
          </a:xfrm>
          <a:prstGeom prst="rect">
            <a:avLst/>
          </a:prstGeom>
          <a:noFill/>
          <a:ln/>
        </p:spPr>
        <p:txBody>
          <a:bodyPr wrap="square" lIns="0" tIns="0" rIns="0" bIns="0" rtlCol="0" anchor="ctr"/>
          <a:lstStyle/>
          <a:p>
            <a:pPr indent="0" marL="0">
              <a:buNone/>
            </a:pPr>
            <a:r>
              <a:rPr lang="en-US" sz="3000" dirty="0">
                <a:solidFill>
                  <a:schemeClr val="tx1"/>
                </a:solidFill>
                <a:latin typeface="Cambria" pitchFamily="34" charset="0"/>
                <a:ea typeface="Cambria" pitchFamily="34" charset="-122"/>
                <a:cs typeface="Cambria" pitchFamily="34" charset="-120"/>
              </a:rPr>
              <a:t>20</a:t>
            </a:r>
            <a:endParaRPr lang="en-US" sz="3000" dirty="0"/>
          </a:p>
        </p:txBody>
      </p:sp>
      <p:sp>
        <p:nvSpPr>
          <p:cNvPr id="21" name="Stat 3 label"/>
          <p:cNvSpPr txBox="1"/>
          <p:nvPr/>
        </p:nvSpPr>
        <p:spPr>
          <a:xfrm>
            <a:off x="8026400" y="4667250"/>
            <a:ext cx="3352800" cy="28575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known papers the pilot must find</a:t>
            </a:r>
            <a:endParaRPr lang="en-US" sz="14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Our key idea: a validation realism scale</a:t>
            </a:r>
            <a:endParaRPr lang="en-US" sz="3600" dirty="0"/>
          </a:p>
        </p:txBody>
      </p:sp>
      <p:sp>
        <p:nvSpPr>
          <p:cNvPr id="4" name="VRL 0 step"/>
          <p:cNvSpPr/>
          <p:nvPr/>
        </p:nvSpPr>
        <p:spPr>
          <a:xfrm>
            <a:off x="812800" y="3111500"/>
            <a:ext cx="1676400" cy="1079500"/>
          </a:xfrm>
          <a:prstGeom prst="roundRect">
            <a:avLst>
              <a:gd name="adj" fmla="val 5082"/>
            </a:avLst>
          </a:prstGeom>
          <a:solidFill>
            <a:srgbClr val="E8E6E1"/>
          </a:solidFill>
          <a:ln/>
        </p:spPr>
      </p:sp>
      <p:sp>
        <p:nvSpPr>
          <p:cNvPr id="5" name="VRL 0 text"/>
          <p:cNvSpPr txBox="1"/>
          <p:nvPr/>
        </p:nvSpPr>
        <p:spPr>
          <a:xfrm>
            <a:off x="939800" y="3225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5E7048"/>
                </a:solidFill>
                <a:latin typeface="Calibri" pitchFamily="34" charset="0"/>
                <a:ea typeface="Calibri" pitchFamily="34" charset="-122"/>
                <a:cs typeface="Calibri" pitchFamily="34" charset="-120"/>
              </a:rPr>
              <a:t>VRL 0</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Synthetic simulation</a:t>
            </a:r>
            <a:endParaRPr lang="en-US" sz="1400" dirty="0"/>
          </a:p>
        </p:txBody>
      </p:sp>
      <p:sp>
        <p:nvSpPr>
          <p:cNvPr id="6" name="VRL 1 step"/>
          <p:cNvSpPr/>
          <p:nvPr/>
        </p:nvSpPr>
        <p:spPr>
          <a:xfrm>
            <a:off x="2590800" y="2857500"/>
            <a:ext cx="1676400" cy="1333500"/>
          </a:xfrm>
          <a:prstGeom prst="roundRect">
            <a:avLst>
              <a:gd name="adj" fmla="val 4114"/>
            </a:avLst>
          </a:prstGeom>
          <a:solidFill>
            <a:srgbClr val="E8E6E1"/>
          </a:solidFill>
          <a:ln/>
        </p:spPr>
      </p:sp>
      <p:sp>
        <p:nvSpPr>
          <p:cNvPr id="7" name="VRL 1 text"/>
          <p:cNvSpPr txBox="1"/>
          <p:nvPr/>
        </p:nvSpPr>
        <p:spPr>
          <a:xfrm>
            <a:off x="2717800" y="2971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5E7048"/>
                </a:solidFill>
                <a:latin typeface="Calibri" pitchFamily="34" charset="0"/>
                <a:ea typeface="Calibri" pitchFamily="34" charset="-122"/>
                <a:cs typeface="Calibri" pitchFamily="34" charset="-120"/>
              </a:rPr>
              <a:t>VRL 1</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Real road map, made-up traffic</a:t>
            </a:r>
            <a:endParaRPr lang="en-US" sz="1400" dirty="0"/>
          </a:p>
        </p:txBody>
      </p:sp>
      <p:sp>
        <p:nvSpPr>
          <p:cNvPr id="8" name="VRL 2 step"/>
          <p:cNvSpPr/>
          <p:nvPr/>
        </p:nvSpPr>
        <p:spPr>
          <a:xfrm>
            <a:off x="4368800" y="2603500"/>
            <a:ext cx="1676400" cy="1587500"/>
          </a:xfrm>
          <a:prstGeom prst="roundRect">
            <a:avLst>
              <a:gd name="adj" fmla="val 3456"/>
            </a:avLst>
          </a:prstGeom>
          <a:solidFill>
            <a:srgbClr val="E8E6E1"/>
          </a:solidFill>
          <a:ln/>
        </p:spPr>
      </p:sp>
      <p:sp>
        <p:nvSpPr>
          <p:cNvPr id="9" name="VRL 2 text"/>
          <p:cNvSpPr txBox="1"/>
          <p:nvPr/>
        </p:nvSpPr>
        <p:spPr>
          <a:xfrm>
            <a:off x="4495800" y="2717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5E7048"/>
                </a:solidFill>
                <a:latin typeface="Calibri" pitchFamily="34" charset="0"/>
                <a:ea typeface="Calibri" pitchFamily="34" charset="-122"/>
                <a:cs typeface="Calibri" pitchFamily="34" charset="-120"/>
              </a:rPr>
              <a:t>VRL 2</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Simulation with real traffic data</a:t>
            </a:r>
            <a:endParaRPr lang="en-US" sz="1400" dirty="0"/>
          </a:p>
        </p:txBody>
      </p:sp>
      <p:sp>
        <p:nvSpPr>
          <p:cNvPr id="10" name="VRL 3 step"/>
          <p:cNvSpPr/>
          <p:nvPr/>
        </p:nvSpPr>
        <p:spPr>
          <a:xfrm>
            <a:off x="6146800" y="2349500"/>
            <a:ext cx="1676400" cy="1841500"/>
          </a:xfrm>
          <a:prstGeom prst="roundRect">
            <a:avLst>
              <a:gd name="adj" fmla="val 3273"/>
            </a:avLst>
          </a:prstGeom>
          <a:solidFill>
            <a:srgbClr val="D3DAC8"/>
          </a:solidFill>
          <a:ln/>
        </p:spPr>
      </p:sp>
      <p:sp>
        <p:nvSpPr>
          <p:cNvPr id="11" name="VRL 3 text"/>
          <p:cNvSpPr txBox="1"/>
          <p:nvPr/>
        </p:nvSpPr>
        <p:spPr>
          <a:xfrm>
            <a:off x="6273800" y="2463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3F4D31"/>
                </a:solidFill>
                <a:latin typeface="Calibri" pitchFamily="34" charset="0"/>
                <a:ea typeface="Calibri" pitchFamily="34" charset="-122"/>
                <a:cs typeface="Calibri" pitchFamily="34" charset="-120"/>
              </a:rPr>
              <a:t>VRL 3</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Real hardware in the loop</a:t>
            </a:r>
            <a:endParaRPr lang="en-US" sz="1400" dirty="0"/>
          </a:p>
        </p:txBody>
      </p:sp>
      <p:sp>
        <p:nvSpPr>
          <p:cNvPr id="12" name="VRL 4 step"/>
          <p:cNvSpPr/>
          <p:nvPr/>
        </p:nvSpPr>
        <p:spPr>
          <a:xfrm>
            <a:off x="7924800" y="2095500"/>
            <a:ext cx="1676400" cy="2095500"/>
          </a:xfrm>
          <a:prstGeom prst="roundRect">
            <a:avLst>
              <a:gd name="adj" fmla="val 3273"/>
            </a:avLst>
          </a:prstGeom>
          <a:solidFill>
            <a:srgbClr val="5E7048"/>
          </a:solidFill>
          <a:ln/>
        </p:spPr>
      </p:sp>
      <p:sp>
        <p:nvSpPr>
          <p:cNvPr id="13" name="VRL 4 text"/>
          <p:cNvSpPr txBox="1"/>
          <p:nvPr/>
        </p:nvSpPr>
        <p:spPr>
          <a:xfrm>
            <a:off x="8051800" y="2209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F8F7F4"/>
                </a:solidFill>
                <a:latin typeface="Calibri" pitchFamily="34" charset="0"/>
                <a:ea typeface="Calibri" pitchFamily="34" charset="-122"/>
                <a:cs typeface="Calibri" pitchFamily="34" charset="-120"/>
              </a:rPr>
              <a:t>VRL 4</a:t>
            </a:r>
            <a:endParaRPr lang="en-US" sz="1400" dirty="0"/>
          </a:p>
          <a:p>
            <a:pPr indent="0" marL="0">
              <a:spcAft>
                <a:spcPts val="400"/>
              </a:spcAft>
              <a:buNone/>
            </a:pPr>
            <a:r>
              <a:rPr lang="en-US" sz="1400" dirty="0">
                <a:solidFill>
                  <a:srgbClr val="F8F7F4"/>
                </a:solidFill>
                <a:latin typeface="Calibri" pitchFamily="34" charset="0"/>
                <a:ea typeface="Calibri" pitchFamily="34" charset="-122"/>
                <a:cs typeface="Calibri" pitchFamily="34" charset="-120"/>
              </a:rPr>
              <a:t>Field test at a real intersection</a:t>
            </a:r>
            <a:endParaRPr lang="en-US" sz="1400" dirty="0"/>
          </a:p>
        </p:txBody>
      </p:sp>
      <p:sp>
        <p:nvSpPr>
          <p:cNvPr id="14" name="VRL 5 step"/>
          <p:cNvSpPr/>
          <p:nvPr/>
        </p:nvSpPr>
        <p:spPr>
          <a:xfrm>
            <a:off x="9702800" y="1841500"/>
            <a:ext cx="1676400" cy="2349500"/>
          </a:xfrm>
          <a:prstGeom prst="roundRect">
            <a:avLst>
              <a:gd name="adj" fmla="val 3273"/>
            </a:avLst>
          </a:prstGeom>
          <a:solidFill>
            <a:srgbClr val="3F4D31"/>
          </a:solidFill>
          <a:ln/>
        </p:spPr>
      </p:sp>
      <p:sp>
        <p:nvSpPr>
          <p:cNvPr id="15" name="VRL 5 text"/>
          <p:cNvSpPr txBox="1"/>
          <p:nvPr/>
        </p:nvSpPr>
        <p:spPr>
          <a:xfrm>
            <a:off x="9829800" y="1955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F8F7F4"/>
                </a:solidFill>
                <a:latin typeface="Calibri" pitchFamily="34" charset="0"/>
                <a:ea typeface="Calibri" pitchFamily="34" charset="-122"/>
                <a:cs typeface="Calibri" pitchFamily="34" charset="-120"/>
              </a:rPr>
              <a:t>VRL 5</a:t>
            </a:r>
            <a:endParaRPr lang="en-US" sz="1400" dirty="0"/>
          </a:p>
          <a:p>
            <a:pPr indent="0" marL="0">
              <a:spcAft>
                <a:spcPts val="400"/>
              </a:spcAft>
              <a:buNone/>
            </a:pPr>
            <a:r>
              <a:rPr lang="en-US" sz="1400" dirty="0">
                <a:solidFill>
                  <a:srgbClr val="F8F7F4"/>
                </a:solidFill>
                <a:latin typeface="Calibri" pitchFamily="34" charset="0"/>
                <a:ea typeface="Calibri" pitchFamily="34" charset="-122"/>
                <a:cs typeface="Calibri" pitchFamily="34" charset="-120"/>
              </a:rPr>
              <a:t>Sustained city deployment</a:t>
            </a:r>
            <a:endParaRPr lang="en-US" sz="1400" dirty="0"/>
          </a:p>
        </p:txBody>
      </p:sp>
      <p:sp>
        <p:nvSpPr>
          <p:cNvPr id="16" name="Question"/>
          <p:cNvSpPr txBox="1"/>
          <p:nvPr/>
        </p:nvSpPr>
        <p:spPr>
          <a:xfrm>
            <a:off x="812800" y="44450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Every study gets the highest level it reaches. Then we ask: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do the reported gains shrink as tests get more real?</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What the scoping search already shows</a:t>
            </a:r>
            <a:endParaRPr lang="en-US" sz="3600" dirty="0"/>
          </a:p>
        </p:txBody>
      </p:sp>
      <p:sp>
        <p:nvSpPr>
          <p:cNvPr id="4" name="Simulators dominate rule"/>
          <p:cNvSpPr/>
          <p:nvPr/>
        </p:nvSpPr>
        <p:spPr>
          <a:xfrm>
            <a:off x="812800" y="1778000"/>
            <a:ext cx="5105400" cy="0"/>
          </a:xfrm>
          <a:prstGeom prst="line">
            <a:avLst/>
          </a:prstGeom>
          <a:noFill/>
          <a:ln w="15875">
            <a:solidFill>
              <a:srgbClr val="2F2E2B"/>
            </a:solidFill>
            <a:prstDash val="solid"/>
          </a:ln>
        </p:spPr>
      </p:sp>
      <p:sp>
        <p:nvSpPr>
          <p:cNvPr id="5" name="Simulators dominate title"/>
          <p:cNvSpPr txBox="1"/>
          <p:nvPr/>
        </p:nvSpPr>
        <p:spPr>
          <a:xfrm>
            <a:off x="812800" y="19177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Simulators dominate</a:t>
            </a:r>
            <a:endParaRPr lang="en-US" sz="2200" dirty="0"/>
          </a:p>
        </p:txBody>
      </p:sp>
      <p:sp>
        <p:nvSpPr>
          <p:cNvPr id="6" name="Simulators dominate text"/>
          <p:cNvSpPr txBox="1"/>
          <p:nvPr/>
        </p:nvSpPr>
        <p:spPr>
          <a:xfrm>
            <a:off x="812800" y="23495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SUMO and CityFlow are the main test platforms in recent reviews</a:t>
            </a:r>
            <a:endParaRPr lang="en-US" sz="1500" dirty="0"/>
          </a:p>
        </p:txBody>
      </p:sp>
      <p:sp>
        <p:nvSpPr>
          <p:cNvPr id="7" name="Field tests are rare rule"/>
          <p:cNvSpPr/>
          <p:nvPr/>
        </p:nvSpPr>
        <p:spPr>
          <a:xfrm>
            <a:off x="6273800" y="1778000"/>
            <a:ext cx="5105400" cy="0"/>
          </a:xfrm>
          <a:prstGeom prst="line">
            <a:avLst/>
          </a:prstGeom>
          <a:noFill/>
          <a:ln w="15875">
            <a:solidFill>
              <a:srgbClr val="2F2E2B"/>
            </a:solidFill>
            <a:prstDash val="solid"/>
          </a:ln>
        </p:spPr>
      </p:sp>
      <p:sp>
        <p:nvSpPr>
          <p:cNvPr id="8" name="Field tests are rare title"/>
          <p:cNvSpPr txBox="1"/>
          <p:nvPr/>
        </p:nvSpPr>
        <p:spPr>
          <a:xfrm>
            <a:off x="6273800" y="19177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Field tests are rare</a:t>
            </a:r>
            <a:endParaRPr lang="en-US" sz="2200" dirty="0"/>
          </a:p>
        </p:txBody>
      </p:sp>
      <p:sp>
        <p:nvSpPr>
          <p:cNvPr id="9" name="Field tests are rare text"/>
          <p:cNvSpPr txBox="1"/>
          <p:nvPr/>
        </p:nvSpPr>
        <p:spPr>
          <a:xfrm>
            <a:off x="6273800" y="23495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Deployment-focused papers from 2021–2022 report almost no live RL signals</a:t>
            </a:r>
            <a:endParaRPr lang="en-US" sz="1500" dirty="0"/>
          </a:p>
        </p:txBody>
      </p:sp>
      <p:sp>
        <p:nvSpPr>
          <p:cNvPr id="10" name="The last SLR stops in 2020 rule"/>
          <p:cNvSpPr/>
          <p:nvPr/>
        </p:nvSpPr>
        <p:spPr>
          <a:xfrm>
            <a:off x="812800" y="3365500"/>
            <a:ext cx="5105400" cy="0"/>
          </a:xfrm>
          <a:prstGeom prst="line">
            <a:avLst/>
          </a:prstGeom>
          <a:noFill/>
          <a:ln w="15875">
            <a:solidFill>
              <a:srgbClr val="2F2E2B"/>
            </a:solidFill>
            <a:prstDash val="solid"/>
          </a:ln>
        </p:spPr>
      </p:sp>
      <p:sp>
        <p:nvSpPr>
          <p:cNvPr id="11" name="The last SLR stops in 2020 title"/>
          <p:cNvSpPr txBox="1"/>
          <p:nvPr/>
        </p:nvSpPr>
        <p:spPr>
          <a:xfrm>
            <a:off x="812800" y="35052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The last SLR stops in 2020</a:t>
            </a:r>
            <a:endParaRPr lang="en-US" sz="2200" dirty="0"/>
          </a:p>
        </p:txBody>
      </p:sp>
      <p:sp>
        <p:nvSpPr>
          <p:cNvPr id="12" name="The last SLR stops in 2020 text"/>
          <p:cNvSpPr txBox="1"/>
          <p:nvPr/>
        </p:nvSpPr>
        <p:spPr>
          <a:xfrm>
            <a:off x="812800" y="39370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Noaeen et al. (2022) reviewed 160 papers up to March 2020</a:t>
            </a:r>
            <a:endParaRPr lang="en-US" sz="1500" dirty="0"/>
          </a:p>
        </p:txBody>
      </p:sp>
      <p:sp>
        <p:nvSpPr>
          <p:cNvPr id="13" name="Same data, many papers rule"/>
          <p:cNvSpPr/>
          <p:nvPr/>
        </p:nvSpPr>
        <p:spPr>
          <a:xfrm>
            <a:off x="6273800" y="3365500"/>
            <a:ext cx="5105400" cy="0"/>
          </a:xfrm>
          <a:prstGeom prst="line">
            <a:avLst/>
          </a:prstGeom>
          <a:noFill/>
          <a:ln w="15875">
            <a:solidFill>
              <a:srgbClr val="2F2E2B"/>
            </a:solidFill>
            <a:prstDash val="solid"/>
          </a:ln>
        </p:spPr>
      </p:sp>
      <p:sp>
        <p:nvSpPr>
          <p:cNvPr id="14" name="Same data, many papers title"/>
          <p:cNvSpPr txBox="1"/>
          <p:nvPr/>
        </p:nvSpPr>
        <p:spPr>
          <a:xfrm>
            <a:off x="6273800" y="35052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Same data, many papers</a:t>
            </a:r>
            <a:endParaRPr lang="en-US" sz="2200" dirty="0"/>
          </a:p>
        </p:txBody>
      </p:sp>
      <p:sp>
        <p:nvSpPr>
          <p:cNvPr id="15" name="Same data, many papers text"/>
          <p:cNvSpPr txBox="1"/>
          <p:nvPr/>
        </p:nvSpPr>
        <p:spPr>
          <a:xfrm>
            <a:off x="6273800" y="39370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Jinan, Hangzhou and New York datasets are reused again and again</a:t>
            </a:r>
            <a:endParaRPr lang="en-US" sz="1500" dirty="0"/>
          </a:p>
        </p:txBody>
      </p:sp>
      <p:sp>
        <p:nvSpPr>
          <p:cNvPr id="16" name="Scoping note"/>
          <p:cNvSpPr txBox="1"/>
          <p:nvPr/>
        </p:nvSpPr>
        <p:spPr>
          <a:xfrm>
            <a:off x="812800" y="6286500"/>
            <a:ext cx="9207500" cy="25400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Exploratory scoping search only: it shaped our design and is not counted as review evidence.</a:t>
            </a:r>
            <a:endParaRPr lang="en-US" sz="12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What we have built so far</a:t>
            </a:r>
            <a:endParaRPr lang="en-US" sz="3600" dirty="0"/>
          </a:p>
        </p:txBody>
      </p:sp>
      <p:sp>
        <p:nvSpPr>
          <p:cNvPr id="4" name="Deliverable 1 rule"/>
          <p:cNvSpPr/>
          <p:nvPr/>
        </p:nvSpPr>
        <p:spPr>
          <a:xfrm>
            <a:off x="812800" y="1778000"/>
            <a:ext cx="2451100" cy="0"/>
          </a:xfrm>
          <a:prstGeom prst="line">
            <a:avLst/>
          </a:prstGeom>
          <a:noFill/>
          <a:ln w="15875">
            <a:solidFill>
              <a:srgbClr val="2F2E2B"/>
            </a:solidFill>
            <a:prstDash val="solid"/>
          </a:ln>
        </p:spPr>
      </p:sp>
      <p:sp>
        <p:nvSpPr>
          <p:cNvPr id="5" name="Deliverable 1 number"/>
          <p:cNvSpPr txBox="1"/>
          <p:nvPr/>
        </p:nvSpPr>
        <p:spPr>
          <a:xfrm>
            <a:off x="8128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15</a:t>
            </a:r>
            <a:endParaRPr lang="en-US" sz="4800" dirty="0"/>
          </a:p>
        </p:txBody>
      </p:sp>
      <p:sp>
        <p:nvSpPr>
          <p:cNvPr id="6" name="Deliverable 1 text"/>
          <p:cNvSpPr txBox="1"/>
          <p:nvPr/>
        </p:nvSpPr>
        <p:spPr>
          <a:xfrm>
            <a:off x="8128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planning and method documents, one 32-page dossier</a:t>
            </a:r>
            <a:endParaRPr lang="en-US" sz="1400" dirty="0"/>
          </a:p>
        </p:txBody>
      </p:sp>
      <p:sp>
        <p:nvSpPr>
          <p:cNvPr id="7" name="Deliverable 2 rule"/>
          <p:cNvSpPr/>
          <p:nvPr/>
        </p:nvSpPr>
        <p:spPr>
          <a:xfrm>
            <a:off x="3517900" y="1778000"/>
            <a:ext cx="2451100" cy="0"/>
          </a:xfrm>
          <a:prstGeom prst="line">
            <a:avLst/>
          </a:prstGeom>
          <a:noFill/>
          <a:ln w="15875">
            <a:solidFill>
              <a:srgbClr val="2F2E2B"/>
            </a:solidFill>
            <a:prstDash val="solid"/>
          </a:ln>
        </p:spPr>
      </p:sp>
      <p:sp>
        <p:nvSpPr>
          <p:cNvPr id="8" name="Deliverable 2 number"/>
          <p:cNvSpPr txBox="1"/>
          <p:nvPr/>
        </p:nvSpPr>
        <p:spPr>
          <a:xfrm>
            <a:off x="35179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3</a:t>
            </a:r>
            <a:endParaRPr lang="en-US" sz="4800" dirty="0"/>
          </a:p>
        </p:txBody>
      </p:sp>
      <p:sp>
        <p:nvSpPr>
          <p:cNvPr id="9" name="Deliverable 2 text"/>
          <p:cNvSpPr txBox="1"/>
          <p:nvPr/>
        </p:nvSpPr>
        <p:spPr>
          <a:xfrm>
            <a:off x="35179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database search strings, ready to run</a:t>
            </a:r>
            <a:endParaRPr lang="en-US" sz="1400" dirty="0"/>
          </a:p>
        </p:txBody>
      </p:sp>
      <p:sp>
        <p:nvSpPr>
          <p:cNvPr id="10" name="Deliverable 3 rule"/>
          <p:cNvSpPr/>
          <p:nvPr/>
        </p:nvSpPr>
        <p:spPr>
          <a:xfrm>
            <a:off x="6223000" y="1778000"/>
            <a:ext cx="2451100" cy="0"/>
          </a:xfrm>
          <a:prstGeom prst="line">
            <a:avLst/>
          </a:prstGeom>
          <a:noFill/>
          <a:ln w="15875">
            <a:solidFill>
              <a:srgbClr val="2F2E2B"/>
            </a:solidFill>
            <a:prstDash val="solid"/>
          </a:ln>
        </p:spPr>
      </p:sp>
      <p:sp>
        <p:nvSpPr>
          <p:cNvPr id="11" name="Deliverable 3 number"/>
          <p:cNvSpPr txBox="1"/>
          <p:nvPr/>
        </p:nvSpPr>
        <p:spPr>
          <a:xfrm>
            <a:off x="62230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64</a:t>
            </a:r>
            <a:endParaRPr lang="en-US" sz="4800" dirty="0"/>
          </a:p>
        </p:txBody>
      </p:sp>
      <p:sp>
        <p:nvSpPr>
          <p:cNvPr id="12" name="Deliverable 3 text"/>
          <p:cNvSpPr txBox="1"/>
          <p:nvPr/>
        </p:nvSpPr>
        <p:spPr>
          <a:xfrm>
            <a:off x="62230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extraction fields in one codebook</a:t>
            </a:r>
            <a:endParaRPr lang="en-US" sz="1400" dirty="0"/>
          </a:p>
        </p:txBody>
      </p:sp>
      <p:sp>
        <p:nvSpPr>
          <p:cNvPr id="13" name="Deliverable 4 rule"/>
          <p:cNvSpPr/>
          <p:nvPr/>
        </p:nvSpPr>
        <p:spPr>
          <a:xfrm>
            <a:off x="8928100" y="1778000"/>
            <a:ext cx="2451100" cy="0"/>
          </a:xfrm>
          <a:prstGeom prst="line">
            <a:avLst/>
          </a:prstGeom>
          <a:noFill/>
          <a:ln w="15875">
            <a:solidFill>
              <a:srgbClr val="2F2E2B"/>
            </a:solidFill>
            <a:prstDash val="solid"/>
          </a:ln>
        </p:spPr>
      </p:sp>
      <p:sp>
        <p:nvSpPr>
          <p:cNvPr id="14" name="Deliverable 4 number"/>
          <p:cNvSpPr txBox="1"/>
          <p:nvPr/>
        </p:nvSpPr>
        <p:spPr>
          <a:xfrm>
            <a:off x="89281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10</a:t>
            </a:r>
            <a:endParaRPr lang="en-US" sz="4800" dirty="0"/>
          </a:p>
        </p:txBody>
      </p:sp>
      <p:sp>
        <p:nvSpPr>
          <p:cNvPr id="15" name="Deliverable 4 text"/>
          <p:cNvSpPr txBox="1"/>
          <p:nvPr/>
        </p:nvSpPr>
        <p:spPr>
          <a:xfrm>
            <a:off x="89281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pipeline commands, from import to PRISMA diagram</a:t>
            </a:r>
            <a:endParaRPr lang="en-US" sz="1400" dirty="0"/>
          </a:p>
        </p:txBody>
      </p:sp>
      <p:sp>
        <p:nvSpPr>
          <p:cNvPr id="16" name="Key point bar"/>
          <p:cNvSpPr/>
          <p:nvPr/>
        </p:nvSpPr>
        <p:spPr>
          <a:xfrm>
            <a:off x="812800" y="3746500"/>
            <a:ext cx="31750" cy="698500"/>
          </a:xfrm>
          <a:prstGeom prst="rect">
            <a:avLst/>
          </a:prstGeom>
          <a:solidFill>
            <a:schemeClr val="accent1"/>
          </a:solidFill>
          <a:ln/>
        </p:spPr>
      </p:sp>
      <p:sp>
        <p:nvSpPr>
          <p:cNvPr id="17" name="Key point"/>
          <p:cNvSpPr txBox="1"/>
          <p:nvPr/>
        </p:nvSpPr>
        <p:spPr>
          <a:xfrm>
            <a:off x="1016000" y="37465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Every PRISMA count and statistic will be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computed from the records</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never typed by hand. All 10 automated tests pass.</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Progress: about 50% complete</a:t>
            </a:r>
            <a:endParaRPr lang="en-US" sz="3600" dirty="0"/>
          </a:p>
        </p:txBody>
      </p:sp>
      <p:sp>
        <p:nvSpPr>
          <p:cNvPr id="4" name="Completion"/>
          <p:cNvSpPr txBox="1"/>
          <p:nvPr/>
        </p:nvSpPr>
        <p:spPr>
          <a:xfrm>
            <a:off x="812800" y="1714500"/>
            <a:ext cx="2413000" cy="1206500"/>
          </a:xfrm>
          <a:prstGeom prst="rect">
            <a:avLst/>
          </a:prstGeom>
          <a:noFill/>
          <a:ln/>
        </p:spPr>
        <p:txBody>
          <a:bodyPr wrap="square" lIns="0" tIns="0" rIns="0" bIns="0" rtlCol="0" anchor="ctr"/>
          <a:lstStyle/>
          <a:p>
            <a:pPr indent="0" marL="0">
              <a:buNone/>
            </a:pPr>
            <a:r>
              <a:rPr lang="en-US" sz="8800" dirty="0">
                <a:solidFill>
                  <a:schemeClr val="accent1"/>
                </a:solidFill>
                <a:latin typeface="Cambria" pitchFamily="34" charset="0"/>
                <a:ea typeface="Cambria" pitchFamily="34" charset="-122"/>
                <a:cs typeface="Cambria" pitchFamily="34" charset="-120"/>
              </a:rPr>
              <a:t>50%</a:t>
            </a:r>
            <a:endParaRPr lang="en-US" sz="8800" dirty="0"/>
          </a:p>
        </p:txBody>
      </p:sp>
      <p:sp>
        <p:nvSpPr>
          <p:cNvPr id="5" name="Completion caption"/>
          <p:cNvSpPr txBox="1"/>
          <p:nvPr/>
        </p:nvSpPr>
        <p:spPr>
          <a:xfrm>
            <a:off x="812800" y="3016250"/>
            <a:ext cx="2286000" cy="952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The design half is done. The execution half starts with the database searches.</a:t>
            </a:r>
            <a:endParaRPr lang="en-US" sz="1500" dirty="0"/>
          </a:p>
        </p:txBody>
      </p:sp>
      <p:graphicFrame>
        <p:nvGraphicFramePr>
          <p:cNvPr id="11" name="Completion breakdown"/>
          <p:cNvGraphicFramePr>
            <a:graphicFrameLocks noGrp="1"/>
          </p:cNvGraphicFramePr>
          <p:nvPr>
            <p:extLst>
              <p:ext uri="{D42A27DB-BD31-4B8C-83A1-F6EECF244321}">
                <p14:modId xmlns:p14="http://schemas.microsoft.com/office/powerpoint/2010/main" val="1579011935"/>
              </p:ext>
            </p:extLst>
          </p:nvPr>
        </p:nvGraphicFramePr>
        <p:xfrm>
          <a:off x="3632200" y="1746250"/>
          <a:ext cx="7747000" cy="914400"/>
        </p:xfrm>
        <a:graphic>
          <a:graphicData uri="http://schemas.openxmlformats.org/drawingml/2006/table">
            <a:tbl>
              <a:tblPr/>
              <a:tblGrid>
                <a:gridCol w="3408680"/>
                <a:gridCol w="1084580"/>
                <a:gridCol w="2169160"/>
                <a:gridCol w="1084580"/>
              </a:tblGrid>
              <a:tr h="419100">
                <a:tc>
                  <a:txBody>
                    <a:bodyPr/>
                    <a:lstStyle/>
                    <a:p>
                      <a:pPr algn="l" indent="0" marL="0">
                        <a:buNone/>
                      </a:pPr>
                      <a:r>
                        <a:rPr lang="en-US" sz="1400" b="1" dirty="0">
                          <a:solidFill>
                            <a:srgbClr val="2F2E2B"/>
                          </a:solidFill>
                          <a:latin typeface="Calibri" pitchFamily="34" charset="0"/>
                          <a:ea typeface="Calibri" pitchFamily="34" charset="-122"/>
                          <a:cs typeface="Calibri" pitchFamily="34" charset="-120"/>
                        </a:rPr>
                        <a:t>Phase</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Weight</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l" indent="0" marL="0">
                        <a:buNone/>
                      </a:pPr>
                      <a:r>
                        <a:rPr lang="en-US" sz="1400" b="1" dirty="0">
                          <a:solidFill>
                            <a:srgbClr val="2F2E2B"/>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Earned</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Planning and protocol (Steps 1–6)</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Search strategy (Steps 7–12)</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Pilot and lock left</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Review tools (Steps 13–27)</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Built, tests pass</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Database search and screening</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Quality and data extraction</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Not started</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Synthesis and writing</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Taxonomy drafted</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b="1" dirty="0">
                          <a:solidFill>
                            <a:srgbClr val="2F2E2B"/>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indent="0" marL="0">
                        <a:buNone/>
                      </a:pP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r>
            </a:tbl>
          </a:graphicData>
        </a:graphic>
      </p:graphicFrame>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mart Traffic Lights">
  <a:themeElements>
    <a:clrScheme name="Smart Traffic Lights">
      <a:dk1>
        <a:srgbClr val="2F2E2B"/>
      </a:dk1>
      <a:lt1>
        <a:srgbClr val="FFFFFF"/>
      </a:lt1>
      <a:dk2>
        <a:srgbClr val="6B6A64"/>
      </a:dk2>
      <a:lt2>
        <a:srgbClr val="F8F7F4"/>
      </a:lt2>
      <a:accent1>
        <a:srgbClr val="5E7048"/>
      </a:accent1>
      <a:accent2>
        <a:srgbClr val="3F4D31"/>
      </a:accent2>
      <a:accent3>
        <a:srgbClr val="D3DAC8"/>
      </a:accent3>
      <a:accent4>
        <a:srgbClr val="E8E6E1"/>
      </a:accent4>
      <a:accent5>
        <a:srgbClr val="D5D3CD"/>
      </a:accent5>
      <a:accent6>
        <a:srgbClr val="8A9A74"/>
      </a:accent6>
      <a:hlink>
        <a:srgbClr val="5E7048"/>
      </a:hlink>
      <a:folHlink>
        <a:srgbClr val="3F4D31"/>
      </a:folHlink>
    </a:clrScheme>
    <a:fontScheme name="Smart Traffic Ligh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Traffic Lights That Learn — Midterm</dc:title>
  <dc:subject>PptxGenJS Presentation</dc:subject>
  <dc:creator>Rakhimzhanov Amangeldy, Nurkin Aidar</dc:creator>
  <cp:lastModifiedBy>Rakhimzhanov Amangeldy, Nurkin Aidar</cp:lastModifiedBy>
  <cp:revision>1</cp:revision>
  <dcterms:created xsi:type="dcterms:W3CDTF">2026-10-19T14:17:12Z</dcterms:created>
  <dcterms:modified xsi:type="dcterms:W3CDTF">2026-10-19T14:17:12Z</dcterms:modified>
</cp:coreProperties>
</file>